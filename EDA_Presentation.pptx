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8" r:id="rId3"/>
    <p:sldId id="259" r:id="rId4"/>
    <p:sldId id="260" r:id="rId5"/>
    <p:sldId id="261" r:id="rId6"/>
    <p:sldId id="262" r:id="rId7"/>
    <p:sldId id="263" r:id="rId8"/>
    <p:sldId id="269" r:id="rId9"/>
    <p:sldId id="270" r:id="rId10"/>
    <p:sldId id="271" r:id="rId11"/>
    <p:sldId id="282" r:id="rId12"/>
    <p:sldId id="283" r:id="rId13"/>
    <p:sldId id="284" r:id="rId14"/>
    <p:sldId id="285" r:id="rId15"/>
    <p:sldId id="286" r:id="rId16"/>
    <p:sldId id="287" r:id="rId17"/>
    <p:sldId id="279" r:id="rId18"/>
    <p:sldId id="281" r:id="rId19"/>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20" d="100"/>
          <a:sy n="120" d="100"/>
        </p:scale>
        <p:origin x="370" y="8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46C04D9A-B8B2-475F-B498-6CBE5773A38A}" type="datetimeFigureOut">
              <a:rPr lang="en-IN" smtClean="0"/>
              <a:t>13-01-2026</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10EB287E-CF27-4AB2-B076-A7C31B9F5F0A}" type="slidenum">
              <a:rPr lang="en-IN" smtClean="0"/>
              <a:t>‹#›</a:t>
            </a:fld>
            <a:endParaRPr lang="en-IN"/>
          </a:p>
        </p:txBody>
      </p:sp>
    </p:spTree>
    <p:extLst>
      <p:ext uri="{BB962C8B-B14F-4D97-AF65-F5344CB8AC3E}">
        <p14:creationId xmlns:p14="http://schemas.microsoft.com/office/powerpoint/2010/main" val="792812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0EB287E-CF27-4AB2-B076-A7C31B9F5F0A}" type="slidenum">
              <a:rPr lang="en-IN" smtClean="0"/>
              <a:t>7</a:t>
            </a:fld>
            <a:endParaRPr lang="en-IN"/>
          </a:p>
        </p:txBody>
      </p:sp>
    </p:spTree>
    <p:extLst>
      <p:ext uri="{BB962C8B-B14F-4D97-AF65-F5344CB8AC3E}">
        <p14:creationId xmlns:p14="http://schemas.microsoft.com/office/powerpoint/2010/main" val="4238596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0EB287E-CF27-4AB2-B076-A7C31B9F5F0A}" type="slidenum">
              <a:rPr lang="en-IN" smtClean="0"/>
              <a:t>8</a:t>
            </a:fld>
            <a:endParaRPr lang="en-IN"/>
          </a:p>
        </p:txBody>
      </p:sp>
    </p:spTree>
    <p:extLst>
      <p:ext uri="{BB962C8B-B14F-4D97-AF65-F5344CB8AC3E}">
        <p14:creationId xmlns:p14="http://schemas.microsoft.com/office/powerpoint/2010/main" val="40328715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3300" b="1" i="0">
                <a:solidFill>
                  <a:schemeClr val="tx1"/>
                </a:solidFill>
                <a:latin typeface="Calibri"/>
                <a:cs typeface="Calibri"/>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1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1" i="0">
                <a:solidFill>
                  <a:schemeClr val="tx1"/>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1"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6610674" y="4638738"/>
            <a:ext cx="2419046" cy="457141"/>
          </a:xfrm>
          <a:prstGeom prst="rect">
            <a:avLst/>
          </a:prstGeom>
        </p:spPr>
      </p:pic>
      <p:sp>
        <p:nvSpPr>
          <p:cNvPr id="2" name="Holder 2"/>
          <p:cNvSpPr>
            <a:spLocks noGrp="1"/>
          </p:cNvSpPr>
          <p:nvPr>
            <p:ph type="title"/>
          </p:nvPr>
        </p:nvSpPr>
        <p:spPr>
          <a:xfrm>
            <a:off x="198422" y="-29464"/>
            <a:ext cx="8747155" cy="746260"/>
          </a:xfrm>
          <a:prstGeom prst="rect">
            <a:avLst/>
          </a:prstGeom>
        </p:spPr>
        <p:txBody>
          <a:bodyPr wrap="square" lIns="0" tIns="0" rIns="0" bIns="0">
            <a:spAutoFit/>
          </a:bodyPr>
          <a:lstStyle>
            <a:lvl1pPr>
              <a:defRPr sz="3300" b="1" i="0">
                <a:solidFill>
                  <a:schemeClr val="tx1"/>
                </a:solidFill>
                <a:latin typeface="Calibri"/>
                <a:cs typeface="Calibri"/>
              </a:defRPr>
            </a:lvl1pPr>
          </a:lstStyle>
          <a:p>
            <a:endParaRPr/>
          </a:p>
        </p:txBody>
      </p:sp>
      <p:sp>
        <p:nvSpPr>
          <p:cNvPr id="3" name="Holder 3"/>
          <p:cNvSpPr>
            <a:spLocks noGrp="1"/>
          </p:cNvSpPr>
          <p:nvPr>
            <p:ph type="body" idx="1"/>
          </p:nvPr>
        </p:nvSpPr>
        <p:spPr>
          <a:xfrm>
            <a:off x="4025706" y="1597567"/>
            <a:ext cx="4560570" cy="1732279"/>
          </a:xfrm>
          <a:prstGeom prst="rect">
            <a:avLst/>
          </a:prstGeom>
        </p:spPr>
        <p:txBody>
          <a:bodyPr wrap="square" lIns="0" tIns="0" rIns="0" bIns="0">
            <a:spAutoFit/>
          </a:bodyPr>
          <a:lstStyle>
            <a:lvl1pPr>
              <a:defRPr sz="14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1/13/2026</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963392" cy="1593940"/>
          </a:xfrm>
          <a:prstGeom prst="rect">
            <a:avLst/>
          </a:prstGeom>
        </p:spPr>
      </p:pic>
      <p:sp>
        <p:nvSpPr>
          <p:cNvPr id="3" name="object 3"/>
          <p:cNvSpPr txBox="1">
            <a:spLocks noGrp="1"/>
          </p:cNvSpPr>
          <p:nvPr>
            <p:ph type="title"/>
          </p:nvPr>
        </p:nvSpPr>
        <p:spPr>
          <a:xfrm>
            <a:off x="1219200" y="2229184"/>
            <a:ext cx="7162799" cy="382156"/>
          </a:xfrm>
          <a:prstGeom prst="rect">
            <a:avLst/>
          </a:prstGeom>
        </p:spPr>
        <p:txBody>
          <a:bodyPr vert="horz" wrap="square" lIns="0" tIns="12700" rIns="0" bIns="0" rtlCol="0">
            <a:spAutoFit/>
          </a:bodyPr>
          <a:lstStyle/>
          <a:p>
            <a:pPr marL="12700">
              <a:lnSpc>
                <a:spcPct val="100000"/>
              </a:lnSpc>
              <a:spcBef>
                <a:spcPts val="100"/>
              </a:spcBef>
            </a:pPr>
            <a:r>
              <a:rPr lang="en-US" sz="2400" dirty="0"/>
              <a:t>E-Commerce Shipping Performance and Delivery Delays</a:t>
            </a:r>
            <a:endParaRPr sz="2400" dirty="0">
              <a:latin typeface="Times New Roman"/>
              <a:cs typeface="Times New Roman"/>
            </a:endParaRPr>
          </a:p>
        </p:txBody>
      </p:sp>
      <p:sp>
        <p:nvSpPr>
          <p:cNvPr id="6" name="TextBox 5">
            <a:extLst>
              <a:ext uri="{FF2B5EF4-FFF2-40B4-BE49-F238E27FC236}">
                <a16:creationId xmlns:a16="http://schemas.microsoft.com/office/drawing/2014/main" id="{70A94D4C-FAE9-DB8D-8F8B-CC775E3E65D7}"/>
              </a:ext>
            </a:extLst>
          </p:cNvPr>
          <p:cNvSpPr txBox="1"/>
          <p:nvPr/>
        </p:nvSpPr>
        <p:spPr>
          <a:xfrm>
            <a:off x="7315200" y="4019550"/>
            <a:ext cx="1752600" cy="584775"/>
          </a:xfrm>
          <a:prstGeom prst="rect">
            <a:avLst/>
          </a:prstGeom>
          <a:noFill/>
        </p:spPr>
        <p:txBody>
          <a:bodyPr wrap="square" rtlCol="0">
            <a:spAutoFit/>
          </a:bodyPr>
          <a:lstStyle/>
          <a:p>
            <a:r>
              <a:rPr lang="en-IN" sz="1600" dirty="0" err="1"/>
              <a:t>T.NagaVenkat</a:t>
            </a:r>
            <a:endParaRPr lang="en-IN" sz="1600" dirty="0"/>
          </a:p>
          <a:p>
            <a:r>
              <a:rPr lang="en-IN" sz="1600" dirty="0"/>
              <a:t>  Batch-455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422" y="209550"/>
            <a:ext cx="8747155" cy="746260"/>
          </a:xfrm>
          <a:prstGeom prst="rect">
            <a:avLst/>
          </a:prstGeom>
        </p:spPr>
        <p:txBody>
          <a:bodyPr vert="horz" wrap="square" lIns="0" tIns="235212" rIns="0" bIns="0" rtlCol="0">
            <a:spAutoFit/>
          </a:bodyPr>
          <a:lstStyle/>
          <a:p>
            <a:pPr marL="12700">
              <a:lnSpc>
                <a:spcPct val="100000"/>
              </a:lnSpc>
              <a:spcBef>
                <a:spcPts val="100"/>
              </a:spcBef>
            </a:pPr>
            <a:r>
              <a:rPr sz="2400" dirty="0">
                <a:latin typeface="Times New Roman"/>
                <a:cs typeface="Times New Roman"/>
              </a:rPr>
              <a:t>Dataset</a:t>
            </a:r>
            <a:r>
              <a:rPr sz="2400" spc="-80" dirty="0">
                <a:latin typeface="Times New Roman"/>
                <a:cs typeface="Times New Roman"/>
              </a:rPr>
              <a:t> </a:t>
            </a:r>
            <a:r>
              <a:rPr sz="2400" spc="-10" dirty="0">
                <a:latin typeface="Times New Roman"/>
                <a:cs typeface="Times New Roman"/>
              </a:rPr>
              <a:t>Overview</a:t>
            </a:r>
            <a:endParaRPr sz="2400" dirty="0">
              <a:latin typeface="Times New Roman"/>
              <a:cs typeface="Times New Roman"/>
            </a:endParaRPr>
          </a:p>
        </p:txBody>
      </p:sp>
      <p:sp>
        <p:nvSpPr>
          <p:cNvPr id="8" name="Rectangle 4">
            <a:extLst>
              <a:ext uri="{FF2B5EF4-FFF2-40B4-BE49-F238E27FC236}">
                <a16:creationId xmlns:a16="http://schemas.microsoft.com/office/drawing/2014/main" id="{F2554A4B-9115-E2A8-FB9A-773AF5F09978}"/>
              </a:ext>
            </a:extLst>
          </p:cNvPr>
          <p:cNvSpPr>
            <a:spLocks noChangeArrowheads="1"/>
          </p:cNvSpPr>
          <p:nvPr/>
        </p:nvSpPr>
        <p:spPr bwMode="auto">
          <a:xfrm>
            <a:off x="198422" y="943110"/>
            <a:ext cx="84582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 Domain: E-Commerce and Logistics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 The dataset contains detailed information related to e-commerce order deliveries and shipping        operations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 Key attributes include warehouse location, shipment mode, customer care calls, customer ratings,    product cost, prior purchases, product importance, customer gender, discounts offered, product weight, and delivery status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 The target variable is </a:t>
            </a:r>
            <a:r>
              <a:rPr kumimoji="0" lang="en-US" altLang="en-US" sz="1400" i="0" u="none" strike="noStrike" cap="none" normalizeH="0" baseline="0" dirty="0" err="1">
                <a:ln>
                  <a:noFill/>
                </a:ln>
                <a:solidFill>
                  <a:schemeClr val="tx1"/>
                </a:solidFill>
                <a:effectLst/>
                <a:latin typeface="Arial" panose="020B0604020202020204" pitchFamily="34" charset="0"/>
              </a:rPr>
              <a:t>Reached.on.Time_Y.N</a:t>
            </a:r>
            <a:r>
              <a:rPr kumimoji="0" lang="en-US" altLang="en-US" sz="1400" b="0" i="0" u="none" strike="noStrike" cap="none" normalizeH="0" baseline="0" dirty="0">
                <a:ln>
                  <a:noFill/>
                </a:ln>
                <a:solidFill>
                  <a:schemeClr val="tx1"/>
                </a:solidFill>
                <a:effectLst/>
                <a:latin typeface="Arial" panose="020B0604020202020204" pitchFamily="34" charset="0"/>
              </a:rPr>
              <a:t>, which indicates whether an order was delivered on time or  delayed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 The dataset is well-structured and suitable for exploratory data analysis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 It enables analysis of factors influencing delivery delays and customer experience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11122" y="685800"/>
            <a:ext cx="8551878" cy="4075475"/>
          </a:xfrm>
          <a:custGeom>
            <a:avLst/>
            <a:gdLst/>
            <a:ahLst/>
            <a:cxnLst/>
            <a:rect l="l" t="t" r="r" b="b"/>
            <a:pathLst>
              <a:path w="8475980" h="3947795">
                <a:moveTo>
                  <a:pt x="0" y="0"/>
                </a:moveTo>
                <a:lnTo>
                  <a:pt x="8475677" y="0"/>
                </a:lnTo>
                <a:lnTo>
                  <a:pt x="8475677" y="3947234"/>
                </a:lnTo>
                <a:lnTo>
                  <a:pt x="0" y="3947234"/>
                </a:lnTo>
                <a:lnTo>
                  <a:pt x="0" y="0"/>
                </a:lnTo>
                <a:close/>
              </a:path>
            </a:pathLst>
          </a:custGeom>
          <a:ln w="9524">
            <a:solidFill>
              <a:srgbClr val="000000"/>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235212" rIns="0" bIns="0" rtlCol="0">
            <a:spAutoFit/>
          </a:bodyPr>
          <a:lstStyle/>
          <a:p>
            <a:pPr marL="12700">
              <a:lnSpc>
                <a:spcPct val="100000"/>
              </a:lnSpc>
              <a:spcBef>
                <a:spcPts val="100"/>
              </a:spcBef>
            </a:pPr>
            <a:r>
              <a:rPr sz="2400" dirty="0">
                <a:latin typeface="Times New Roman"/>
                <a:cs typeface="Times New Roman"/>
              </a:rPr>
              <a:t>Simple</a:t>
            </a:r>
            <a:r>
              <a:rPr sz="2400" spc="-40" dirty="0">
                <a:latin typeface="Times New Roman"/>
                <a:cs typeface="Times New Roman"/>
              </a:rPr>
              <a:t> </a:t>
            </a:r>
            <a:r>
              <a:rPr sz="2400" dirty="0">
                <a:latin typeface="Times New Roman"/>
                <a:cs typeface="Times New Roman"/>
              </a:rPr>
              <a:t>description</a:t>
            </a:r>
            <a:r>
              <a:rPr sz="2400" spc="-25"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dirty="0">
                <a:latin typeface="Times New Roman"/>
                <a:cs typeface="Times New Roman"/>
              </a:rPr>
              <a:t>each</a:t>
            </a:r>
            <a:r>
              <a:rPr sz="2400" spc="-25" dirty="0">
                <a:latin typeface="Times New Roman"/>
                <a:cs typeface="Times New Roman"/>
              </a:rPr>
              <a:t> </a:t>
            </a:r>
            <a:r>
              <a:rPr sz="2400" dirty="0">
                <a:latin typeface="Times New Roman"/>
                <a:cs typeface="Times New Roman"/>
              </a:rPr>
              <a:t>column</a:t>
            </a:r>
            <a:r>
              <a:rPr sz="2400" spc="-30" dirty="0">
                <a:latin typeface="Times New Roman"/>
                <a:cs typeface="Times New Roman"/>
              </a:rPr>
              <a:t> </a:t>
            </a:r>
            <a:r>
              <a:rPr sz="2400" dirty="0">
                <a:latin typeface="Times New Roman"/>
                <a:cs typeface="Times New Roman"/>
              </a:rPr>
              <a:t>in</a:t>
            </a:r>
            <a:r>
              <a:rPr sz="2400" spc="-25" dirty="0">
                <a:latin typeface="Times New Roman"/>
                <a:cs typeface="Times New Roman"/>
              </a:rPr>
              <a:t> </a:t>
            </a:r>
            <a:r>
              <a:rPr sz="2400" dirty="0">
                <a:latin typeface="Times New Roman"/>
                <a:cs typeface="Times New Roman"/>
              </a:rPr>
              <a:t>your</a:t>
            </a:r>
            <a:r>
              <a:rPr sz="2400" spc="-70" dirty="0">
                <a:latin typeface="Times New Roman"/>
                <a:cs typeface="Times New Roman"/>
              </a:rPr>
              <a:t> </a:t>
            </a:r>
            <a:r>
              <a:rPr sz="2400" spc="-10" dirty="0">
                <a:latin typeface="Times New Roman"/>
                <a:cs typeface="Times New Roman"/>
              </a:rPr>
              <a:t>dataset:</a:t>
            </a:r>
            <a:endParaRPr sz="2400">
              <a:latin typeface="Times New Roman"/>
              <a:cs typeface="Times New Roman"/>
            </a:endParaRPr>
          </a:p>
        </p:txBody>
      </p:sp>
      <p:sp>
        <p:nvSpPr>
          <p:cNvPr id="4" name="object 4"/>
          <p:cNvSpPr txBox="1"/>
          <p:nvPr/>
        </p:nvSpPr>
        <p:spPr>
          <a:xfrm>
            <a:off x="279098" y="770438"/>
            <a:ext cx="8458502" cy="3906198"/>
          </a:xfrm>
          <a:prstGeom prst="rect">
            <a:avLst/>
          </a:prstGeom>
        </p:spPr>
        <p:txBody>
          <a:bodyPr vert="horz" wrap="square" lIns="0" tIns="12700" rIns="0" bIns="0" rtlCol="0">
            <a:spAutoFit/>
          </a:bodyPr>
          <a:lstStyle/>
          <a:p>
            <a:pPr marL="285750" indent="-285750" algn="l">
              <a:buFont typeface="Arial" panose="020B0604020202020204" pitchFamily="34" charset="0"/>
              <a:buChar char="•"/>
            </a:pPr>
            <a:r>
              <a:rPr lang="en-US" sz="1100" b="1" dirty="0"/>
              <a:t>ID</a:t>
            </a:r>
            <a:r>
              <a:rPr lang="en-US" sz="1100" dirty="0"/>
              <a:t>: Unique identifier for each order</a:t>
            </a:r>
          </a:p>
          <a:p>
            <a:pPr marL="285750" indent="-285750" algn="l">
              <a:buFont typeface="Arial" panose="020B0604020202020204" pitchFamily="34" charset="0"/>
              <a:buChar char="•"/>
            </a:pPr>
            <a:endParaRPr lang="en-US" sz="1100" dirty="0"/>
          </a:p>
          <a:p>
            <a:pPr marL="285750" indent="-285750" algn="l">
              <a:buFont typeface="Arial" panose="020B0604020202020204" pitchFamily="34" charset="0"/>
              <a:buChar char="•"/>
            </a:pPr>
            <a:r>
              <a:rPr lang="en-US" sz="1100" b="1" dirty="0" err="1"/>
              <a:t>Warehouse_block</a:t>
            </a:r>
            <a:r>
              <a:rPr lang="en-US" sz="1100" dirty="0"/>
              <a:t>: Warehouse location handling the shipment</a:t>
            </a:r>
          </a:p>
          <a:p>
            <a:pPr algn="l"/>
            <a:endParaRPr lang="en-US" sz="1100" dirty="0"/>
          </a:p>
          <a:p>
            <a:pPr marL="285750" indent="-285750" algn="l">
              <a:buFont typeface="Arial" panose="020B0604020202020204" pitchFamily="34" charset="0"/>
              <a:buChar char="•"/>
            </a:pPr>
            <a:r>
              <a:rPr lang="en-US" sz="1100" b="1" dirty="0" err="1"/>
              <a:t>Mode_of_Shipment</a:t>
            </a:r>
            <a:r>
              <a:rPr lang="en-US" sz="1100" dirty="0"/>
              <a:t>: Method used to ship the order (Road, Ship, Flight)</a:t>
            </a:r>
          </a:p>
          <a:p>
            <a:pPr algn="l"/>
            <a:endParaRPr lang="en-US" sz="1100" dirty="0"/>
          </a:p>
          <a:p>
            <a:pPr marL="285750" indent="-285750" algn="l">
              <a:buFont typeface="Arial" panose="020B0604020202020204" pitchFamily="34" charset="0"/>
              <a:buChar char="•"/>
            </a:pPr>
            <a:r>
              <a:rPr lang="en-US" sz="1100" b="1" dirty="0" err="1"/>
              <a:t>Customer_care_calls</a:t>
            </a:r>
            <a:r>
              <a:rPr lang="en-US" sz="1100" dirty="0"/>
              <a:t>: Number of customer support calls made by the customer</a:t>
            </a:r>
          </a:p>
          <a:p>
            <a:pPr algn="l"/>
            <a:endParaRPr lang="en-US" sz="1100" dirty="0"/>
          </a:p>
          <a:p>
            <a:pPr marL="285750" indent="-285750" algn="l">
              <a:buFont typeface="Arial" panose="020B0604020202020204" pitchFamily="34" charset="0"/>
              <a:buChar char="•"/>
            </a:pPr>
            <a:r>
              <a:rPr lang="en-US" sz="1100" b="1" dirty="0" err="1"/>
              <a:t>Customer_rating</a:t>
            </a:r>
            <a:r>
              <a:rPr lang="en-US" sz="1100" dirty="0"/>
              <a:t>: Customer satisfaction rating on a scale of 1 to 5</a:t>
            </a:r>
          </a:p>
          <a:p>
            <a:pPr marL="285750" indent="-285750" algn="l">
              <a:buFont typeface="Arial" panose="020B0604020202020204" pitchFamily="34" charset="0"/>
              <a:buChar char="•"/>
            </a:pPr>
            <a:endParaRPr lang="en-US" sz="1100" b="1" dirty="0"/>
          </a:p>
          <a:p>
            <a:pPr marL="285750" indent="-285750" algn="l">
              <a:buFont typeface="Arial" panose="020B0604020202020204" pitchFamily="34" charset="0"/>
              <a:buChar char="•"/>
            </a:pPr>
            <a:r>
              <a:rPr lang="en-US" sz="1100" b="1" dirty="0" err="1"/>
              <a:t>Cost_of_the_Product</a:t>
            </a:r>
            <a:r>
              <a:rPr lang="en-US" sz="1100" dirty="0"/>
              <a:t>: Price of the product</a:t>
            </a:r>
          </a:p>
          <a:p>
            <a:pPr algn="l"/>
            <a:endParaRPr lang="en-US" sz="1100" dirty="0"/>
          </a:p>
          <a:p>
            <a:pPr marL="285750" indent="-285750" algn="l">
              <a:buFont typeface="Arial" panose="020B0604020202020204" pitchFamily="34" charset="0"/>
              <a:buChar char="•"/>
            </a:pPr>
            <a:r>
              <a:rPr lang="en-US" sz="1100" b="1" dirty="0" err="1"/>
              <a:t>Prior_purchases</a:t>
            </a:r>
            <a:r>
              <a:rPr lang="en-US" sz="1100" dirty="0"/>
              <a:t>: Number of previous purchases made by the customer</a:t>
            </a:r>
          </a:p>
          <a:p>
            <a:pPr marL="285750" indent="-285750" algn="l">
              <a:buFont typeface="Arial" panose="020B0604020202020204" pitchFamily="34" charset="0"/>
              <a:buChar char="•"/>
            </a:pPr>
            <a:endParaRPr lang="en-US" sz="1100" dirty="0"/>
          </a:p>
          <a:p>
            <a:pPr marL="285750" indent="-285750" algn="l">
              <a:buFont typeface="Arial" panose="020B0604020202020204" pitchFamily="34" charset="0"/>
              <a:buChar char="•"/>
            </a:pPr>
            <a:r>
              <a:rPr lang="en-US" sz="1100" b="1" dirty="0" err="1"/>
              <a:t>Product_importance</a:t>
            </a:r>
            <a:r>
              <a:rPr lang="en-US" sz="1100" dirty="0"/>
              <a:t>: Business importance of the product (Low, Medium, High)</a:t>
            </a:r>
          </a:p>
          <a:p>
            <a:pPr marL="285750" indent="-285750" algn="l">
              <a:buFont typeface="Arial" panose="020B0604020202020204" pitchFamily="34" charset="0"/>
              <a:buChar char="•"/>
            </a:pPr>
            <a:endParaRPr lang="en-US" sz="1100" dirty="0"/>
          </a:p>
          <a:p>
            <a:pPr marL="285750" indent="-285750" algn="l">
              <a:buFont typeface="Arial" panose="020B0604020202020204" pitchFamily="34" charset="0"/>
              <a:buChar char="•"/>
            </a:pPr>
            <a:r>
              <a:rPr lang="en-US" sz="1100" b="1" dirty="0"/>
              <a:t>Gender</a:t>
            </a:r>
            <a:r>
              <a:rPr lang="en-US" sz="1100" dirty="0"/>
              <a:t>: Gender of the customer</a:t>
            </a:r>
          </a:p>
          <a:p>
            <a:pPr marL="285750" indent="-285750" algn="l">
              <a:buFont typeface="Arial" panose="020B0604020202020204" pitchFamily="34" charset="0"/>
              <a:buChar char="•"/>
            </a:pPr>
            <a:endParaRPr lang="en-US" sz="1100" dirty="0"/>
          </a:p>
          <a:p>
            <a:pPr marL="285750" indent="-285750" algn="l">
              <a:buFont typeface="Arial" panose="020B0604020202020204" pitchFamily="34" charset="0"/>
              <a:buChar char="•"/>
            </a:pPr>
            <a:r>
              <a:rPr lang="en-US" sz="1100" b="1" dirty="0" err="1"/>
              <a:t>Discount_offered</a:t>
            </a:r>
            <a:r>
              <a:rPr lang="en-US" sz="1100" dirty="0"/>
              <a:t>: Discount applied to the order</a:t>
            </a:r>
          </a:p>
          <a:p>
            <a:pPr marL="285750" indent="-285750" algn="l">
              <a:buFont typeface="Arial" panose="020B0604020202020204" pitchFamily="34" charset="0"/>
              <a:buChar char="•"/>
            </a:pPr>
            <a:endParaRPr lang="en-US" sz="1100" dirty="0"/>
          </a:p>
          <a:p>
            <a:pPr marL="285750" indent="-285750" algn="l">
              <a:buFont typeface="Arial" panose="020B0604020202020204" pitchFamily="34" charset="0"/>
              <a:buChar char="•"/>
            </a:pPr>
            <a:r>
              <a:rPr lang="en-US" sz="1100" b="1" dirty="0" err="1"/>
              <a:t>Weight_in_gms</a:t>
            </a:r>
            <a:r>
              <a:rPr lang="en-US" sz="1100" dirty="0"/>
              <a:t>: Weight of the product in grams</a:t>
            </a:r>
          </a:p>
          <a:p>
            <a:pPr algn="l"/>
            <a:endParaRPr lang="en-US" sz="1100" b="1" dirty="0"/>
          </a:p>
          <a:p>
            <a:pPr marL="285750" indent="-285750" algn="l">
              <a:buFont typeface="Arial" panose="020B0604020202020204" pitchFamily="34" charset="0"/>
              <a:buChar char="•"/>
            </a:pPr>
            <a:r>
              <a:rPr lang="en-US" sz="1100" b="1" dirty="0" err="1"/>
              <a:t>Reached.on.Time_Y.N</a:t>
            </a:r>
            <a:r>
              <a:rPr lang="en-US" sz="1100" dirty="0"/>
              <a:t>: Delivery status indicator (0 = Delivered on time, 1 = Delivery delayed)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prstGeom prst="rect">
            <a:avLst/>
          </a:prstGeom>
        </p:spPr>
        <p:txBody>
          <a:bodyPr vert="horz" wrap="square" lIns="0" tIns="235212" rIns="0" bIns="0" rtlCol="0">
            <a:spAutoFit/>
          </a:bodyPr>
          <a:lstStyle/>
          <a:p>
            <a:pPr marL="12700">
              <a:lnSpc>
                <a:spcPct val="100000"/>
              </a:lnSpc>
              <a:spcBef>
                <a:spcPts val="100"/>
              </a:spcBef>
            </a:pPr>
            <a:r>
              <a:rPr sz="2400" dirty="0">
                <a:latin typeface="Times New Roman"/>
                <a:cs typeface="Times New Roman"/>
              </a:rPr>
              <a:t>Reading</a:t>
            </a:r>
            <a:r>
              <a:rPr sz="2400" spc="-90" dirty="0">
                <a:latin typeface="Times New Roman"/>
                <a:cs typeface="Times New Roman"/>
              </a:rPr>
              <a:t> </a:t>
            </a:r>
            <a:r>
              <a:rPr sz="2400" spc="-10" dirty="0">
                <a:latin typeface="Times New Roman"/>
                <a:cs typeface="Times New Roman"/>
              </a:rPr>
              <a:t>Dataset</a:t>
            </a:r>
            <a:endParaRPr sz="2400">
              <a:latin typeface="Times New Roman"/>
              <a:cs typeface="Times New Roman"/>
            </a:endParaRPr>
          </a:p>
        </p:txBody>
      </p:sp>
      <p:pic>
        <p:nvPicPr>
          <p:cNvPr id="7" name="Picture 6">
            <a:extLst>
              <a:ext uri="{FF2B5EF4-FFF2-40B4-BE49-F238E27FC236}">
                <a16:creationId xmlns:a16="http://schemas.microsoft.com/office/drawing/2014/main" id="{41117C2C-3D88-3AE1-C52D-E135315D9269}"/>
              </a:ext>
            </a:extLst>
          </p:cNvPr>
          <p:cNvPicPr>
            <a:picLocks noChangeAspect="1"/>
          </p:cNvPicPr>
          <p:nvPr/>
        </p:nvPicPr>
        <p:blipFill>
          <a:blip r:embed="rId2"/>
          <a:stretch>
            <a:fillRect/>
          </a:stretch>
        </p:blipFill>
        <p:spPr>
          <a:xfrm>
            <a:off x="304800" y="666750"/>
            <a:ext cx="7497778" cy="401244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Basic</a:t>
            </a:r>
            <a:r>
              <a:rPr spc="-25" dirty="0"/>
              <a:t> </a:t>
            </a:r>
            <a:r>
              <a:rPr spc="-10" dirty="0"/>
              <a:t>Checks</a:t>
            </a:r>
          </a:p>
        </p:txBody>
      </p:sp>
      <p:grpSp>
        <p:nvGrpSpPr>
          <p:cNvPr id="3" name="object 3"/>
          <p:cNvGrpSpPr/>
          <p:nvPr/>
        </p:nvGrpSpPr>
        <p:grpSpPr>
          <a:xfrm>
            <a:off x="196421" y="638784"/>
            <a:ext cx="8495210" cy="3943987"/>
            <a:chOff x="196421" y="638784"/>
            <a:chExt cx="8495210" cy="3943987"/>
          </a:xfrm>
        </p:grpSpPr>
        <p:pic>
          <p:nvPicPr>
            <p:cNvPr id="4" name="object 4"/>
            <p:cNvPicPr/>
            <p:nvPr/>
          </p:nvPicPr>
          <p:blipFill>
            <a:blip r:embed="rId2">
              <a:extLst>
                <a:ext uri="{28A0092B-C50C-407E-A947-70E740481C1C}">
                  <a14:useLocalDpi xmlns:a14="http://schemas.microsoft.com/office/drawing/2010/main" val="0"/>
                </a:ext>
              </a:extLst>
            </a:blip>
            <a:srcRect/>
            <a:stretch/>
          </p:blipFill>
          <p:spPr>
            <a:xfrm>
              <a:off x="306137" y="638785"/>
              <a:ext cx="3859268" cy="3943985"/>
            </a:xfrm>
            <a:prstGeom prst="rect">
              <a:avLst/>
            </a:prstGeom>
          </p:spPr>
        </p:pic>
        <p:sp>
          <p:nvSpPr>
            <p:cNvPr id="5" name="object 5"/>
            <p:cNvSpPr/>
            <p:nvPr/>
          </p:nvSpPr>
          <p:spPr>
            <a:xfrm>
              <a:off x="196421" y="638786"/>
              <a:ext cx="4209415" cy="3943985"/>
            </a:xfrm>
            <a:custGeom>
              <a:avLst/>
              <a:gdLst/>
              <a:ahLst/>
              <a:cxnLst/>
              <a:rect l="l" t="t" r="r" b="b"/>
              <a:pathLst>
                <a:path w="4209415" h="3943985">
                  <a:moveTo>
                    <a:pt x="0" y="0"/>
                  </a:moveTo>
                  <a:lnTo>
                    <a:pt x="4208891" y="0"/>
                  </a:lnTo>
                  <a:lnTo>
                    <a:pt x="4208891" y="3943691"/>
                  </a:lnTo>
                  <a:lnTo>
                    <a:pt x="0" y="3943691"/>
                  </a:lnTo>
                  <a:lnTo>
                    <a:pt x="0" y="0"/>
                  </a:lnTo>
                  <a:close/>
                </a:path>
              </a:pathLst>
            </a:custGeom>
            <a:ln w="9524">
              <a:solidFill>
                <a:srgbClr val="000000"/>
              </a:solidFill>
            </a:ln>
          </p:spPr>
          <p:txBody>
            <a:bodyPr wrap="square" lIns="0" tIns="0" rIns="0" bIns="0" rtlCol="0"/>
            <a:lstStyle/>
            <a:p>
              <a:endParaRPr/>
            </a:p>
          </p:txBody>
        </p:sp>
        <p:pic>
          <p:nvPicPr>
            <p:cNvPr id="6" name="object 6"/>
            <p:cNvPicPr/>
            <p:nvPr/>
          </p:nvPicPr>
          <p:blipFill>
            <a:blip r:embed="rId3">
              <a:extLst>
                <a:ext uri="{28A0092B-C50C-407E-A947-70E740481C1C}">
                  <a14:useLocalDpi xmlns:a14="http://schemas.microsoft.com/office/drawing/2010/main" val="0"/>
                </a:ext>
              </a:extLst>
            </a:blip>
            <a:srcRect/>
            <a:stretch/>
          </p:blipFill>
          <p:spPr>
            <a:xfrm>
              <a:off x="4424113" y="638784"/>
              <a:ext cx="4262686" cy="3943985"/>
            </a:xfrm>
            <a:prstGeom prst="rect">
              <a:avLst/>
            </a:prstGeom>
          </p:spPr>
        </p:pic>
        <p:sp>
          <p:nvSpPr>
            <p:cNvPr id="7" name="object 7"/>
            <p:cNvSpPr/>
            <p:nvPr/>
          </p:nvSpPr>
          <p:spPr>
            <a:xfrm>
              <a:off x="4419351" y="638785"/>
              <a:ext cx="4272280" cy="3943985"/>
            </a:xfrm>
            <a:custGeom>
              <a:avLst/>
              <a:gdLst/>
              <a:ahLst/>
              <a:cxnLst/>
              <a:rect l="l" t="t" r="r" b="b"/>
              <a:pathLst>
                <a:path w="4272280" h="3943985">
                  <a:moveTo>
                    <a:pt x="0" y="0"/>
                  </a:moveTo>
                  <a:lnTo>
                    <a:pt x="4272211" y="0"/>
                  </a:lnTo>
                  <a:lnTo>
                    <a:pt x="4272211" y="3943692"/>
                  </a:lnTo>
                  <a:lnTo>
                    <a:pt x="0" y="3943692"/>
                  </a:lnTo>
                  <a:lnTo>
                    <a:pt x="0" y="0"/>
                  </a:lnTo>
                  <a:close/>
                </a:path>
              </a:pathLst>
            </a:custGeom>
            <a:ln w="9524">
              <a:solidFill>
                <a:srgbClr val="000000"/>
              </a:solidFill>
            </a:ln>
          </p:spPr>
          <p:txBody>
            <a:bodyPr wrap="square" lIns="0" tIns="0" rIns="0" bIns="0" rtlCol="0"/>
            <a:lstStyle/>
            <a:p>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03022" rIns="0" bIns="0" rtlCol="0">
            <a:spAutoFit/>
          </a:bodyPr>
          <a:lstStyle/>
          <a:p>
            <a:pPr marL="201295">
              <a:lnSpc>
                <a:spcPct val="100000"/>
              </a:lnSpc>
              <a:spcBef>
                <a:spcPts val="100"/>
              </a:spcBef>
            </a:pPr>
            <a:r>
              <a:rPr sz="2400" spc="-10" dirty="0">
                <a:latin typeface="Times New Roman"/>
                <a:cs typeface="Times New Roman"/>
              </a:rPr>
              <a:t>Preprocessing</a:t>
            </a:r>
            <a:r>
              <a:rPr sz="2400" spc="-85" dirty="0">
                <a:latin typeface="Times New Roman"/>
                <a:cs typeface="Times New Roman"/>
              </a:rPr>
              <a:t> </a:t>
            </a:r>
            <a:r>
              <a:rPr sz="2400" spc="-30" dirty="0">
                <a:latin typeface="Times New Roman"/>
                <a:cs typeface="Times New Roman"/>
              </a:rPr>
              <a:t>Techniques</a:t>
            </a:r>
            <a:r>
              <a:rPr sz="2400" spc="-45" dirty="0">
                <a:latin typeface="Times New Roman"/>
                <a:cs typeface="Times New Roman"/>
              </a:rPr>
              <a:t> </a:t>
            </a:r>
            <a:r>
              <a:rPr sz="2400" dirty="0">
                <a:latin typeface="Times New Roman"/>
                <a:cs typeface="Times New Roman"/>
              </a:rPr>
              <a:t>on</a:t>
            </a:r>
            <a:r>
              <a:rPr sz="2400" spc="-45" dirty="0">
                <a:latin typeface="Times New Roman"/>
                <a:cs typeface="Times New Roman"/>
              </a:rPr>
              <a:t> </a:t>
            </a:r>
            <a:r>
              <a:rPr sz="2400" dirty="0">
                <a:latin typeface="Times New Roman"/>
                <a:cs typeface="Times New Roman"/>
              </a:rPr>
              <a:t>Dataset</a:t>
            </a:r>
            <a:r>
              <a:rPr sz="2400" spc="-40" dirty="0">
                <a:latin typeface="Times New Roman"/>
                <a:cs typeface="Times New Roman"/>
              </a:rPr>
              <a:t> </a:t>
            </a:r>
            <a:r>
              <a:rPr sz="2400" spc="-10" dirty="0">
                <a:latin typeface="Times New Roman"/>
                <a:cs typeface="Times New Roman"/>
              </a:rPr>
              <a:t>Individual</a:t>
            </a:r>
            <a:r>
              <a:rPr sz="2400" spc="-50" dirty="0">
                <a:latin typeface="Times New Roman"/>
                <a:cs typeface="Times New Roman"/>
              </a:rPr>
              <a:t> </a:t>
            </a:r>
            <a:r>
              <a:rPr sz="2400" spc="-10" dirty="0">
                <a:latin typeface="Times New Roman"/>
                <a:cs typeface="Times New Roman"/>
              </a:rPr>
              <a:t>Columns</a:t>
            </a:r>
            <a:endParaRPr sz="2400" dirty="0">
              <a:latin typeface="Times New Roman"/>
              <a:cs typeface="Times New Roman"/>
            </a:endParaRPr>
          </a:p>
        </p:txBody>
      </p:sp>
      <p:sp>
        <p:nvSpPr>
          <p:cNvPr id="4" name="object 4"/>
          <p:cNvSpPr txBox="1">
            <a:spLocks noGrp="1"/>
          </p:cNvSpPr>
          <p:nvPr>
            <p:ph type="body" idx="1"/>
          </p:nvPr>
        </p:nvSpPr>
        <p:spPr>
          <a:xfrm>
            <a:off x="4025706" y="1597567"/>
            <a:ext cx="4560570" cy="659155"/>
          </a:xfrm>
          <a:prstGeom prst="rect">
            <a:avLst/>
          </a:prstGeom>
        </p:spPr>
        <p:txBody>
          <a:bodyPr vert="horz" wrap="square" lIns="0" tIns="12700" rIns="0" bIns="0" rtlCol="0">
            <a:spAutoFit/>
          </a:bodyPr>
          <a:lstStyle/>
          <a:p>
            <a:pPr marL="303530" indent="-187960">
              <a:lnSpc>
                <a:spcPct val="100000"/>
              </a:lnSpc>
              <a:spcBef>
                <a:spcPts val="100"/>
              </a:spcBef>
              <a:buFont typeface="Arial MT"/>
              <a:buChar char="•"/>
              <a:tabLst>
                <a:tab pos="303530" algn="l"/>
              </a:tabLst>
            </a:pPr>
            <a:r>
              <a:rPr lang="en-US" dirty="0"/>
              <a:t>There are </a:t>
            </a:r>
            <a:r>
              <a:rPr lang="en-US" b="1" dirty="0"/>
              <a:t>no missing values and no duplicate records</a:t>
            </a:r>
            <a:r>
              <a:rPr lang="en-US" dirty="0"/>
              <a:t> present in the dataset, ensuring high data quality for analysis</a:t>
            </a:r>
            <a:endParaRPr spc="-10" dirty="0"/>
          </a:p>
        </p:txBody>
      </p:sp>
      <p:grpSp>
        <p:nvGrpSpPr>
          <p:cNvPr id="5" name="object 5"/>
          <p:cNvGrpSpPr/>
          <p:nvPr/>
        </p:nvGrpSpPr>
        <p:grpSpPr>
          <a:xfrm>
            <a:off x="1252536" y="1088540"/>
            <a:ext cx="2581276" cy="3481071"/>
            <a:chOff x="1252536" y="1088540"/>
            <a:chExt cx="2581276" cy="3481071"/>
          </a:xfrm>
        </p:grpSpPr>
        <p:pic>
          <p:nvPicPr>
            <p:cNvPr id="6" name="object 6"/>
            <p:cNvPicPr/>
            <p:nvPr/>
          </p:nvPicPr>
          <p:blipFill>
            <a:blip r:embed="rId2">
              <a:extLst>
                <a:ext uri="{28A0092B-C50C-407E-A947-70E740481C1C}">
                  <a14:useLocalDpi xmlns:a14="http://schemas.microsoft.com/office/drawing/2010/main" val="0"/>
                </a:ext>
              </a:extLst>
            </a:blip>
            <a:srcRect/>
            <a:stretch/>
          </p:blipFill>
          <p:spPr>
            <a:xfrm>
              <a:off x="1252536" y="1088540"/>
              <a:ext cx="2581275" cy="3481069"/>
            </a:xfrm>
            <a:prstGeom prst="rect">
              <a:avLst/>
            </a:prstGeom>
          </p:spPr>
        </p:pic>
        <p:sp>
          <p:nvSpPr>
            <p:cNvPr id="7" name="object 7"/>
            <p:cNvSpPr/>
            <p:nvPr/>
          </p:nvSpPr>
          <p:spPr>
            <a:xfrm>
              <a:off x="1252537" y="1088541"/>
              <a:ext cx="2581275" cy="3481070"/>
            </a:xfrm>
            <a:custGeom>
              <a:avLst/>
              <a:gdLst/>
              <a:ahLst/>
              <a:cxnLst/>
              <a:rect l="l" t="t" r="r" b="b"/>
              <a:pathLst>
                <a:path w="2581275" h="3481070">
                  <a:moveTo>
                    <a:pt x="0" y="0"/>
                  </a:moveTo>
                  <a:lnTo>
                    <a:pt x="2581274" y="0"/>
                  </a:lnTo>
                  <a:lnTo>
                    <a:pt x="2581274" y="3480765"/>
                  </a:lnTo>
                  <a:lnTo>
                    <a:pt x="0" y="3480765"/>
                  </a:lnTo>
                  <a:lnTo>
                    <a:pt x="0" y="0"/>
                  </a:lnTo>
                  <a:close/>
                </a:path>
              </a:pathLst>
            </a:custGeom>
            <a:ln w="9524">
              <a:solidFill>
                <a:srgbClr val="000000"/>
              </a:solidFill>
            </a:ln>
          </p:spPr>
          <p:txBody>
            <a:bodyPr wrap="square" lIns="0" tIns="0" rIns="0" bIns="0" rtlCol="0"/>
            <a:lstStyle/>
            <a:p>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7399" y="2431161"/>
            <a:ext cx="457200" cy="922019"/>
          </a:xfrm>
          <a:prstGeom prst="rect">
            <a:avLst/>
          </a:prstGeom>
        </p:spPr>
        <p:txBody>
          <a:bodyPr vert="horz" wrap="square" lIns="0" tIns="0" rIns="0" bIns="0" rtlCol="0">
            <a:spAutoFit/>
          </a:bodyPr>
          <a:lstStyle/>
          <a:p>
            <a:pPr>
              <a:lnSpc>
                <a:spcPts val="3135"/>
              </a:lnSpc>
            </a:pPr>
            <a:r>
              <a:rPr sz="3300" b="1" spc="-25" dirty="0">
                <a:solidFill>
                  <a:srgbClr val="FF0000"/>
                </a:solidFill>
                <a:latin typeface="Calibri"/>
                <a:cs typeface="Calibri"/>
              </a:rPr>
              <a:t>jkr</a:t>
            </a:r>
            <a:endParaRPr sz="3300">
              <a:latin typeface="Calibri"/>
              <a:cs typeface="Calibri"/>
            </a:endParaRPr>
          </a:p>
          <a:p>
            <a:pPr>
              <a:lnSpc>
                <a:spcPct val="100000"/>
              </a:lnSpc>
            </a:pPr>
            <a:r>
              <a:rPr sz="3300" b="1" spc="-25" dirty="0">
                <a:solidFill>
                  <a:srgbClr val="FF0000"/>
                </a:solidFill>
                <a:latin typeface="Calibri"/>
                <a:cs typeface="Calibri"/>
              </a:rPr>
              <a:t>jk</a:t>
            </a:r>
            <a:endParaRPr sz="3300">
              <a:latin typeface="Calibri"/>
              <a:cs typeface="Calibri"/>
            </a:endParaRPr>
          </a:p>
        </p:txBody>
      </p:sp>
      <p:grpSp>
        <p:nvGrpSpPr>
          <p:cNvPr id="3" name="object 3"/>
          <p:cNvGrpSpPr/>
          <p:nvPr/>
        </p:nvGrpSpPr>
        <p:grpSpPr>
          <a:xfrm>
            <a:off x="433388" y="644674"/>
            <a:ext cx="4129087" cy="4318486"/>
            <a:chOff x="447675" y="258820"/>
            <a:chExt cx="4129087" cy="4318486"/>
          </a:xfrm>
        </p:grpSpPr>
        <p:pic>
          <p:nvPicPr>
            <p:cNvPr id="4" name="object 4"/>
            <p:cNvPicPr/>
            <p:nvPr/>
          </p:nvPicPr>
          <p:blipFill>
            <a:blip r:embed="rId3">
              <a:extLst>
                <a:ext uri="{28A0092B-C50C-407E-A947-70E740481C1C}">
                  <a14:useLocalDpi xmlns:a14="http://schemas.microsoft.com/office/drawing/2010/main" val="0"/>
                </a:ext>
              </a:extLst>
            </a:blip>
            <a:srcRect/>
            <a:stretch/>
          </p:blipFill>
          <p:spPr>
            <a:xfrm>
              <a:off x="447675" y="258820"/>
              <a:ext cx="4124325" cy="4296410"/>
            </a:xfrm>
            <a:prstGeom prst="rect">
              <a:avLst/>
            </a:prstGeom>
          </p:spPr>
        </p:pic>
        <p:sp>
          <p:nvSpPr>
            <p:cNvPr id="5" name="object 5"/>
            <p:cNvSpPr/>
            <p:nvPr/>
          </p:nvSpPr>
          <p:spPr>
            <a:xfrm>
              <a:off x="452437" y="280896"/>
              <a:ext cx="4124325" cy="4296410"/>
            </a:xfrm>
            <a:custGeom>
              <a:avLst/>
              <a:gdLst/>
              <a:ahLst/>
              <a:cxnLst/>
              <a:rect l="l" t="t" r="r" b="b"/>
              <a:pathLst>
                <a:path w="4124325" h="4296410">
                  <a:moveTo>
                    <a:pt x="0" y="0"/>
                  </a:moveTo>
                  <a:lnTo>
                    <a:pt x="4124324" y="0"/>
                  </a:lnTo>
                  <a:lnTo>
                    <a:pt x="4124324" y="4295865"/>
                  </a:lnTo>
                  <a:lnTo>
                    <a:pt x="0" y="4295865"/>
                  </a:lnTo>
                  <a:lnTo>
                    <a:pt x="0" y="0"/>
                  </a:lnTo>
                  <a:close/>
                </a:path>
              </a:pathLst>
            </a:custGeom>
            <a:ln w="9524">
              <a:solidFill>
                <a:srgbClr val="000000"/>
              </a:solidFill>
            </a:ln>
          </p:spPr>
          <p:txBody>
            <a:bodyPr wrap="square" lIns="0" tIns="0" rIns="0" bIns="0" rtlCol="0"/>
            <a:lstStyle/>
            <a:p>
              <a:endParaRPr/>
            </a:p>
          </p:txBody>
        </p:sp>
      </p:grpSp>
      <p:sp>
        <p:nvSpPr>
          <p:cNvPr id="6" name="object 6"/>
          <p:cNvSpPr txBox="1"/>
          <p:nvPr/>
        </p:nvSpPr>
        <p:spPr>
          <a:xfrm>
            <a:off x="4800600" y="1581150"/>
            <a:ext cx="3905250" cy="700192"/>
          </a:xfrm>
          <a:prstGeom prst="rect">
            <a:avLst/>
          </a:prstGeom>
          <a:ln w="9524">
            <a:solidFill>
              <a:srgbClr val="000000"/>
            </a:solidFill>
          </a:ln>
        </p:spPr>
        <p:txBody>
          <a:bodyPr vert="horz" wrap="square" lIns="0" tIns="22860" rIns="0" bIns="0" rtlCol="0">
            <a:spAutoFit/>
          </a:bodyPr>
          <a:lstStyle/>
          <a:p>
            <a:pPr marL="66675">
              <a:lnSpc>
                <a:spcPct val="100000"/>
              </a:lnSpc>
              <a:spcBef>
                <a:spcPts val="180"/>
              </a:spcBef>
            </a:pPr>
            <a:r>
              <a:rPr lang="en-US" sz="1100" dirty="0"/>
              <a:t>There are no inconsistent values in the categorical columns including </a:t>
            </a:r>
            <a:r>
              <a:rPr lang="en-US" sz="1100" b="1" dirty="0" err="1"/>
              <a:t>Warehouse_block</a:t>
            </a:r>
            <a:r>
              <a:rPr lang="en-US" sz="1100" b="1" dirty="0"/>
              <a:t>, </a:t>
            </a:r>
            <a:r>
              <a:rPr lang="en-US" sz="1100" b="1" dirty="0" err="1"/>
              <a:t>Mode_of_Shipment</a:t>
            </a:r>
            <a:r>
              <a:rPr lang="en-US" sz="1100" b="1" dirty="0"/>
              <a:t>, </a:t>
            </a:r>
            <a:r>
              <a:rPr lang="en-US" sz="1100" b="1" dirty="0" err="1"/>
              <a:t>Product_importance</a:t>
            </a:r>
            <a:r>
              <a:rPr lang="en-US" sz="1100" b="1" dirty="0"/>
              <a:t>, and Gender .</a:t>
            </a:r>
            <a:r>
              <a:rPr lang="en-US" sz="1100" dirty="0"/>
              <a:t>As all categories have been standardized and validated for uniform formatting.</a:t>
            </a:r>
            <a:endParaRPr sz="1100" dirty="0">
              <a:latin typeface="Arial MT"/>
              <a:cs typeface="Arial MT"/>
            </a:endParaRPr>
          </a:p>
        </p:txBody>
      </p:sp>
      <p:sp>
        <p:nvSpPr>
          <p:cNvPr id="8" name="TextBox 7">
            <a:extLst>
              <a:ext uri="{FF2B5EF4-FFF2-40B4-BE49-F238E27FC236}">
                <a16:creationId xmlns:a16="http://schemas.microsoft.com/office/drawing/2014/main" id="{731760B9-EB4E-B698-9827-D44B354E85A8}"/>
              </a:ext>
            </a:extLst>
          </p:cNvPr>
          <p:cNvSpPr txBox="1"/>
          <p:nvPr/>
        </p:nvSpPr>
        <p:spPr>
          <a:xfrm>
            <a:off x="433388" y="144946"/>
            <a:ext cx="6043612" cy="369403"/>
          </a:xfrm>
          <a:prstGeom prst="rect">
            <a:avLst/>
          </a:prstGeom>
          <a:noFill/>
        </p:spPr>
        <p:txBody>
          <a:bodyPr wrap="square" rtlCol="0">
            <a:spAutoFit/>
          </a:bodyPr>
          <a:lstStyle/>
          <a:p>
            <a:pPr algn="ctr"/>
            <a:r>
              <a:rPr lang="en-US" sz="1800" b="1" spc="-10" dirty="0">
                <a:latin typeface="Times New Roman"/>
                <a:cs typeface="Times New Roman"/>
              </a:rPr>
              <a:t>Preprocessing</a:t>
            </a:r>
            <a:r>
              <a:rPr lang="en-US" sz="1800" b="1" spc="-85" dirty="0">
                <a:latin typeface="Times New Roman"/>
                <a:cs typeface="Times New Roman"/>
              </a:rPr>
              <a:t> </a:t>
            </a:r>
            <a:r>
              <a:rPr lang="en-US" sz="1800" b="1" spc="-30" dirty="0">
                <a:latin typeface="Times New Roman"/>
                <a:cs typeface="Times New Roman"/>
              </a:rPr>
              <a:t>Techniques</a:t>
            </a:r>
            <a:r>
              <a:rPr lang="en-US" sz="1800" b="1" spc="-45" dirty="0">
                <a:latin typeface="Times New Roman"/>
                <a:cs typeface="Times New Roman"/>
              </a:rPr>
              <a:t> </a:t>
            </a:r>
            <a:r>
              <a:rPr lang="en-US" sz="1800" b="1" dirty="0">
                <a:latin typeface="Times New Roman"/>
                <a:cs typeface="Times New Roman"/>
              </a:rPr>
              <a:t>on</a:t>
            </a:r>
            <a:r>
              <a:rPr lang="en-US" sz="1800" b="1" spc="-45" dirty="0">
                <a:latin typeface="Times New Roman"/>
                <a:cs typeface="Times New Roman"/>
              </a:rPr>
              <a:t> </a:t>
            </a:r>
            <a:r>
              <a:rPr lang="en-US" sz="1800" b="1" dirty="0">
                <a:latin typeface="Times New Roman"/>
                <a:cs typeface="Times New Roman"/>
              </a:rPr>
              <a:t>Dataset</a:t>
            </a:r>
            <a:r>
              <a:rPr lang="en-US" sz="1800" b="1" spc="-40" dirty="0">
                <a:latin typeface="Times New Roman"/>
                <a:cs typeface="Times New Roman"/>
              </a:rPr>
              <a:t> </a:t>
            </a:r>
            <a:r>
              <a:rPr lang="en-US" sz="1800" b="1" spc="-10" dirty="0">
                <a:latin typeface="Times New Roman"/>
                <a:cs typeface="Times New Roman"/>
              </a:rPr>
              <a:t>Individual</a:t>
            </a:r>
            <a:r>
              <a:rPr lang="en-US" sz="1800" b="1" spc="-50" dirty="0">
                <a:latin typeface="Times New Roman"/>
                <a:cs typeface="Times New Roman"/>
              </a:rPr>
              <a:t> </a:t>
            </a:r>
            <a:r>
              <a:rPr lang="en-US" sz="1800" b="1" spc="-10" dirty="0">
                <a:latin typeface="Times New Roman"/>
                <a:cs typeface="Times New Roman"/>
              </a:rPr>
              <a:t>Columns</a:t>
            </a:r>
            <a:endParaRPr lang="en-IN"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7200" y="3562350"/>
            <a:ext cx="7912100" cy="1231106"/>
          </a:xfrm>
          <a:prstGeom prst="rect">
            <a:avLst/>
          </a:prstGeom>
          <a:ln w="9524">
            <a:solidFill>
              <a:srgbClr val="000000"/>
            </a:solidFill>
          </a:ln>
        </p:spPr>
        <p:txBody>
          <a:bodyPr vert="horz" wrap="square" lIns="0" tIns="0" rIns="0" bIns="0" rtlCol="0">
            <a:spAutoFit/>
          </a:bodyPr>
          <a:lstStyle/>
          <a:p>
            <a:r>
              <a:rPr lang="en-US" sz="1000" b="1" dirty="0"/>
              <a:t>1.Delivery Status (</a:t>
            </a:r>
            <a:r>
              <a:rPr lang="en-US" sz="1000" b="1" dirty="0" err="1"/>
              <a:t>Reached.on.Time_Y.N</a:t>
            </a:r>
            <a:r>
              <a:rPr lang="en-US" sz="1000" b="1" dirty="0"/>
              <a:t>)</a:t>
            </a:r>
          </a:p>
          <a:p>
            <a:pPr lvl="1"/>
            <a:r>
              <a:rPr lang="en-US" sz="1000" dirty="0"/>
              <a:t>A large number of orders are getting delivered late compared to those that arrive on time. This clearly shows that delivery delays are a common problem for the business, and improving logistics could have a big impact on customer satisfaction.</a:t>
            </a:r>
          </a:p>
          <a:p>
            <a:endParaRPr lang="en-US" sz="1000" dirty="0"/>
          </a:p>
          <a:p>
            <a:r>
              <a:rPr lang="en-US" sz="1000" b="1" dirty="0"/>
              <a:t>2.Mode of Shipment</a:t>
            </a:r>
          </a:p>
          <a:p>
            <a:r>
              <a:rPr lang="en-US" sz="1000" dirty="0"/>
              <a:t>Most orders are shipped using road and ship rather than flight. This suggests the company is likely trying to reduce costs, but relying more on these slower transport methods could also be one of the reasons why many deliveries are delayed.</a:t>
            </a:r>
          </a:p>
          <a:p>
            <a:endParaRPr lang="en-US" sz="1000" dirty="0"/>
          </a:p>
        </p:txBody>
      </p:sp>
      <p:pic>
        <p:nvPicPr>
          <p:cNvPr id="3" name="object 3"/>
          <p:cNvPicPr/>
          <p:nvPr/>
        </p:nvPicPr>
        <p:blipFill>
          <a:blip r:embed="rId3">
            <a:extLst>
              <a:ext uri="{28A0092B-C50C-407E-A947-70E740481C1C}">
                <a14:useLocalDpi xmlns:a14="http://schemas.microsoft.com/office/drawing/2010/main" val="0"/>
              </a:ext>
            </a:extLst>
          </a:blip>
          <a:srcRect/>
          <a:stretch/>
        </p:blipFill>
        <p:spPr>
          <a:xfrm>
            <a:off x="457200" y="798096"/>
            <a:ext cx="3461826" cy="2654182"/>
          </a:xfrm>
          <a:prstGeom prst="rect">
            <a:avLst/>
          </a:prstGeom>
        </p:spPr>
      </p:pic>
      <p:pic>
        <p:nvPicPr>
          <p:cNvPr id="5" name="object 5"/>
          <p:cNvPicPr/>
          <p:nvPr/>
        </p:nvPicPr>
        <p:blipFill>
          <a:blip r:embed="rId4">
            <a:extLst>
              <a:ext uri="{28A0092B-C50C-407E-A947-70E740481C1C}">
                <a14:useLocalDpi xmlns:a14="http://schemas.microsoft.com/office/drawing/2010/main" val="0"/>
              </a:ext>
            </a:extLst>
          </a:blip>
          <a:srcRect/>
          <a:stretch/>
        </p:blipFill>
        <p:spPr>
          <a:xfrm>
            <a:off x="4711700" y="798097"/>
            <a:ext cx="3657600" cy="2654181"/>
          </a:xfrm>
          <a:prstGeom prst="rect">
            <a:avLst/>
          </a:prstGeom>
        </p:spPr>
      </p:pic>
      <p:sp>
        <p:nvSpPr>
          <p:cNvPr id="9" name="TextBox 8">
            <a:extLst>
              <a:ext uri="{FF2B5EF4-FFF2-40B4-BE49-F238E27FC236}">
                <a16:creationId xmlns:a16="http://schemas.microsoft.com/office/drawing/2014/main" id="{BCF8E9DF-0C5C-0F6A-1DA9-747D5D5B4B2C}"/>
              </a:ext>
            </a:extLst>
          </p:cNvPr>
          <p:cNvSpPr txBox="1"/>
          <p:nvPr/>
        </p:nvSpPr>
        <p:spPr>
          <a:xfrm>
            <a:off x="1828800" y="151765"/>
            <a:ext cx="5334000" cy="646331"/>
          </a:xfrm>
          <a:prstGeom prst="rect">
            <a:avLst/>
          </a:prstGeom>
          <a:noFill/>
        </p:spPr>
        <p:txBody>
          <a:bodyPr wrap="square" rtlCol="0">
            <a:spAutoFit/>
          </a:bodyPr>
          <a:lstStyle/>
          <a:p>
            <a:pPr algn="ctr"/>
            <a:r>
              <a:rPr lang="en-IN" sz="1800" b="1" dirty="0">
                <a:latin typeface="Times New Roman" panose="02020603050405020304" pitchFamily="18" charset="0"/>
                <a:cs typeface="Times New Roman" panose="02020603050405020304" pitchFamily="18" charset="0"/>
              </a:rPr>
              <a:t>Data Analysis Through Visualization</a:t>
            </a:r>
          </a:p>
          <a:p>
            <a:pPr algn="ctr"/>
            <a:r>
              <a:rPr lang="en-IN" b="1" dirty="0">
                <a:latin typeface="Times New Roman" panose="02020603050405020304" pitchFamily="18" charset="0"/>
                <a:cs typeface="Times New Roman" panose="02020603050405020304" pitchFamily="18" charset="0"/>
              </a:rPr>
              <a:t>Univariate Analysis </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2600" y="3409950"/>
            <a:ext cx="8216900" cy="1246495"/>
          </a:xfrm>
          <a:prstGeom prst="rect">
            <a:avLst/>
          </a:prstGeom>
          <a:ln w="9524">
            <a:solidFill>
              <a:srgbClr val="000000"/>
            </a:solidFill>
          </a:ln>
        </p:spPr>
        <p:txBody>
          <a:bodyPr vert="horz" wrap="square" lIns="0" tIns="0" rIns="0" bIns="0" rtlCol="0">
            <a:spAutoFit/>
          </a:bodyPr>
          <a:lstStyle/>
          <a:p>
            <a:r>
              <a:rPr lang="en-US" sz="1000" b="1" dirty="0"/>
              <a:t>3. Customer Rating</a:t>
            </a:r>
          </a:p>
          <a:p>
            <a:r>
              <a:rPr lang="en-US" sz="1000" dirty="0"/>
              <a:t>Most customers give ratings between 3 and 5, which means many are reasonably satisfied. However, the presence of low ratings shows that some customers are unhappy, possibly due to issues like late deliveries or poor service.</a:t>
            </a:r>
          </a:p>
          <a:p>
            <a:endParaRPr lang="en-US" sz="1000" dirty="0"/>
          </a:p>
          <a:p>
            <a:r>
              <a:rPr lang="en-US" sz="1000" b="1" dirty="0"/>
              <a:t>4. Cost of the Product</a:t>
            </a:r>
          </a:p>
          <a:p>
            <a:r>
              <a:rPr lang="en-US" sz="1000" dirty="0"/>
              <a:t>The majority of products fall into a low to medium price range, with only a few high-priced items. This means the business mainly deals in affordable products, but any delivery issues with expensive items could lead to higher customer dissatisfaction and revenue loss.</a:t>
            </a:r>
          </a:p>
          <a:p>
            <a:endParaRPr lang="en-US" sz="1100" dirty="0"/>
          </a:p>
        </p:txBody>
      </p:sp>
      <p:pic>
        <p:nvPicPr>
          <p:cNvPr id="12" name="Picture 11">
            <a:extLst>
              <a:ext uri="{FF2B5EF4-FFF2-40B4-BE49-F238E27FC236}">
                <a16:creationId xmlns:a16="http://schemas.microsoft.com/office/drawing/2014/main" id="{CD51863B-4BF0-2CDE-FFA8-141E431E41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600" y="322354"/>
            <a:ext cx="3581400" cy="3013169"/>
          </a:xfrm>
          <a:prstGeom prst="rect">
            <a:avLst/>
          </a:prstGeom>
        </p:spPr>
      </p:pic>
      <p:pic>
        <p:nvPicPr>
          <p:cNvPr id="14" name="Picture 13">
            <a:extLst>
              <a:ext uri="{FF2B5EF4-FFF2-40B4-BE49-F238E27FC236}">
                <a16:creationId xmlns:a16="http://schemas.microsoft.com/office/drawing/2014/main" id="{B98788B7-CEF7-BE9D-EDEE-0B0609DE67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3000" y="309979"/>
            <a:ext cx="3581400" cy="302554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23907C20-4DB8-9300-CC2F-A21832CD20B5}"/>
              </a:ext>
            </a:extLst>
          </p:cNvPr>
          <p:cNvSpPr txBox="1"/>
          <p:nvPr/>
        </p:nvSpPr>
        <p:spPr>
          <a:xfrm>
            <a:off x="2859058" y="177789"/>
            <a:ext cx="3275256" cy="369332"/>
          </a:xfrm>
          <a:prstGeom prst="rect">
            <a:avLst/>
          </a:prstGeom>
          <a:noFill/>
        </p:spPr>
        <p:txBody>
          <a:bodyPr wrap="none" rtlCol="0">
            <a:spAutoFit/>
          </a:bodyPr>
          <a:lstStyle/>
          <a:p>
            <a:pPr algn="ctr"/>
            <a:r>
              <a:rPr lang="en-IN" b="1" dirty="0">
                <a:latin typeface="Times New Roman" panose="02020603050405020304" pitchFamily="18" charset="0"/>
                <a:cs typeface="Times New Roman" panose="02020603050405020304" pitchFamily="18" charset="0"/>
              </a:rPr>
              <a:t> </a:t>
            </a:r>
            <a:r>
              <a:rPr lang="en-GB" sz="1800" b="1" dirty="0">
                <a:latin typeface="Times New Roman" panose="02020603050405020304" pitchFamily="18" charset="0"/>
                <a:cs typeface="Times New Roman" panose="02020603050405020304" pitchFamily="18" charset="0"/>
              </a:rPr>
              <a:t>N</a:t>
            </a:r>
            <a:r>
              <a:rPr lang="en-IN" sz="1800" b="1" dirty="0">
                <a:latin typeface="Times New Roman" panose="02020603050405020304" pitchFamily="18" charset="0"/>
                <a:cs typeface="Times New Roman" panose="02020603050405020304" pitchFamily="18" charset="0"/>
              </a:rPr>
              <a:t>on- Visual Bivariate Analysis</a:t>
            </a:r>
          </a:p>
        </p:txBody>
      </p:sp>
      <p:pic>
        <p:nvPicPr>
          <p:cNvPr id="13" name="Picture 12">
            <a:extLst>
              <a:ext uri="{FF2B5EF4-FFF2-40B4-BE49-F238E27FC236}">
                <a16:creationId xmlns:a16="http://schemas.microsoft.com/office/drawing/2014/main" id="{745BF6BF-3779-BB0D-B60D-32C87D8D7C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666750"/>
            <a:ext cx="4806248" cy="2327403"/>
          </a:xfrm>
          <a:prstGeom prst="rect">
            <a:avLst/>
          </a:prstGeom>
        </p:spPr>
      </p:pic>
      <p:sp>
        <p:nvSpPr>
          <p:cNvPr id="14" name="TextBox 13">
            <a:extLst>
              <a:ext uri="{FF2B5EF4-FFF2-40B4-BE49-F238E27FC236}">
                <a16:creationId xmlns:a16="http://schemas.microsoft.com/office/drawing/2014/main" id="{8E4682E6-16E3-2F4D-A762-30FD25CEC85B}"/>
              </a:ext>
            </a:extLst>
          </p:cNvPr>
          <p:cNvSpPr txBox="1"/>
          <p:nvPr/>
        </p:nvSpPr>
        <p:spPr>
          <a:xfrm>
            <a:off x="533400" y="3257550"/>
            <a:ext cx="6324600" cy="1015663"/>
          </a:xfrm>
          <a:prstGeom prst="rect">
            <a:avLst/>
          </a:prstGeom>
          <a:noFill/>
        </p:spPr>
        <p:txBody>
          <a:bodyPr wrap="square" rtlCol="0">
            <a:spAutoFit/>
          </a:bodyPr>
          <a:lstStyle/>
          <a:p>
            <a:r>
              <a:rPr lang="en-US" sz="1200" b="1" dirty="0"/>
              <a:t>1. Categorical vs Categorical</a:t>
            </a:r>
          </a:p>
          <a:p>
            <a:r>
              <a:rPr lang="en-US" sz="1200" b="1" dirty="0"/>
              <a:t>Mode of Shipment vs Delivery Status</a:t>
            </a:r>
            <a:endParaRPr lang="en-US" sz="1200" dirty="0"/>
          </a:p>
          <a:p>
            <a:pPr marL="171450" indent="-171450">
              <a:buFont typeface="Arial" panose="020B0604020202020204" pitchFamily="34" charset="0"/>
              <a:buChar char="•"/>
            </a:pPr>
            <a:r>
              <a:rPr lang="en-US" sz="1200" dirty="0"/>
              <a:t>Among the three modes, </a:t>
            </a:r>
            <a:r>
              <a:rPr lang="en-US" sz="1200" b="1" dirty="0"/>
              <a:t>Ship handles the highest number of orders</a:t>
            </a:r>
            <a:r>
              <a:rPr lang="en-US" sz="1200" dirty="0"/>
              <a:t>, but it also has the </a:t>
            </a:r>
            <a:r>
              <a:rPr lang="en-US" sz="1200" b="1" dirty="0"/>
              <a:t>highest number of delays (4459)</a:t>
            </a:r>
            <a:r>
              <a:rPr lang="en-US" sz="1200" dirty="0"/>
              <a:t>. This indicates that although shipping by ship is widely used, it is </a:t>
            </a:r>
            <a:r>
              <a:rPr lang="en-US" sz="1200" b="1" dirty="0"/>
              <a:t>the most unreliable option for timely delivery</a:t>
            </a:r>
            <a:r>
              <a:rPr lang="en-US" sz="1200" dirty="0"/>
              <a:t>.</a:t>
            </a:r>
            <a:endParaRPr lang="en-IN"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B6CF0F-2136-0ACD-9A59-85E3C835CDD9}"/>
              </a:ext>
            </a:extLst>
          </p:cNvPr>
          <p:cNvSpPr txBox="1"/>
          <p:nvPr/>
        </p:nvSpPr>
        <p:spPr>
          <a:xfrm>
            <a:off x="2743200" y="185362"/>
            <a:ext cx="3217547" cy="369332"/>
          </a:xfrm>
          <a:prstGeom prst="rect">
            <a:avLst/>
          </a:prstGeom>
          <a:noFill/>
        </p:spPr>
        <p:txBody>
          <a:bodyPr wrap="none" rtlCol="0">
            <a:spAutoFit/>
          </a:bodyPr>
          <a:lstStyle/>
          <a:p>
            <a:pPr algn="ctr"/>
            <a:r>
              <a:rPr lang="en-GB" sz="1800" b="1" dirty="0">
                <a:latin typeface="Times New Roman" panose="02020603050405020304" pitchFamily="18" charset="0"/>
                <a:cs typeface="Times New Roman" panose="02020603050405020304" pitchFamily="18" charset="0"/>
              </a:rPr>
              <a:t>N</a:t>
            </a:r>
            <a:r>
              <a:rPr lang="en-IN" sz="1800" b="1" dirty="0">
                <a:latin typeface="Times New Roman" panose="02020603050405020304" pitchFamily="18" charset="0"/>
                <a:cs typeface="Times New Roman" panose="02020603050405020304" pitchFamily="18" charset="0"/>
              </a:rPr>
              <a:t>on- Visual Bivariate Analysis</a:t>
            </a:r>
          </a:p>
        </p:txBody>
      </p:sp>
      <p:pic>
        <p:nvPicPr>
          <p:cNvPr id="6" name="Picture 5">
            <a:extLst>
              <a:ext uri="{FF2B5EF4-FFF2-40B4-BE49-F238E27FC236}">
                <a16:creationId xmlns:a16="http://schemas.microsoft.com/office/drawing/2014/main" id="{A59765EE-E339-413F-0A0B-41B78C341E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0812" y="923330"/>
            <a:ext cx="5382376" cy="1857634"/>
          </a:xfrm>
          <a:prstGeom prst="rect">
            <a:avLst/>
          </a:prstGeom>
        </p:spPr>
      </p:pic>
      <p:sp>
        <p:nvSpPr>
          <p:cNvPr id="10" name="TextBox 9">
            <a:extLst>
              <a:ext uri="{FF2B5EF4-FFF2-40B4-BE49-F238E27FC236}">
                <a16:creationId xmlns:a16="http://schemas.microsoft.com/office/drawing/2014/main" id="{F87E5F31-2C33-39E9-88E0-BA06E119A660}"/>
              </a:ext>
            </a:extLst>
          </p:cNvPr>
          <p:cNvSpPr txBox="1"/>
          <p:nvPr/>
        </p:nvSpPr>
        <p:spPr>
          <a:xfrm>
            <a:off x="457200" y="3181350"/>
            <a:ext cx="6858000" cy="1384995"/>
          </a:xfrm>
          <a:prstGeom prst="rect">
            <a:avLst/>
          </a:prstGeom>
          <a:noFill/>
        </p:spPr>
        <p:txBody>
          <a:bodyPr wrap="square" rtlCol="0">
            <a:spAutoFit/>
          </a:bodyPr>
          <a:lstStyle/>
          <a:p>
            <a:r>
              <a:rPr lang="en-US" sz="1200" b="1" dirty="0"/>
              <a:t>2. Categorical vs Numerical</a:t>
            </a:r>
          </a:p>
          <a:p>
            <a:r>
              <a:rPr lang="en-US" sz="1200" b="1" dirty="0"/>
              <a:t>Delivery Status vs Customer Rating</a:t>
            </a:r>
            <a:endParaRPr lang="en-US" sz="1200" dirty="0"/>
          </a:p>
          <a:p>
            <a:pPr marL="171450" indent="-171450">
              <a:buFont typeface="Arial" panose="020B0604020202020204" pitchFamily="34" charset="0"/>
              <a:buChar char="•"/>
            </a:pPr>
            <a:r>
              <a:rPr lang="en-US" sz="1200" dirty="0"/>
              <a:t>Surprisingly, </a:t>
            </a:r>
            <a:r>
              <a:rPr lang="en-US" sz="1200" b="1" dirty="0"/>
              <a:t>customers who experienced delayed deliveries gave slightly higher ratings than those who received their orders on time</a:t>
            </a:r>
            <a:r>
              <a:rPr lang="en-US" sz="1200" dirty="0"/>
              <a:t>.</a:t>
            </a:r>
          </a:p>
          <a:p>
            <a:pPr marL="171450" indent="-171450">
              <a:buFont typeface="Arial" panose="020B0604020202020204" pitchFamily="34" charset="0"/>
              <a:buChar char="•"/>
            </a:pPr>
            <a:r>
              <a:rPr lang="en-US" sz="1200" dirty="0"/>
              <a:t>This suggests that </a:t>
            </a:r>
            <a:r>
              <a:rPr lang="en-US" sz="1200" b="1" dirty="0"/>
              <a:t>delivery delay alone is not driving customer dissatisfaction</a:t>
            </a:r>
            <a:r>
              <a:rPr lang="en-US" sz="1200" dirty="0"/>
              <a:t> in this dataset.</a:t>
            </a:r>
          </a:p>
          <a:p>
            <a:endParaRPr lang="en-IN" sz="1200" dirty="0"/>
          </a:p>
        </p:txBody>
      </p:sp>
    </p:spTree>
    <p:extLst>
      <p:ext uri="{BB962C8B-B14F-4D97-AF65-F5344CB8AC3E}">
        <p14:creationId xmlns:p14="http://schemas.microsoft.com/office/powerpoint/2010/main" val="302125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9C4982-DC13-D3E1-2994-967B0657714E}"/>
              </a:ext>
            </a:extLst>
          </p:cNvPr>
          <p:cNvSpPr txBox="1"/>
          <p:nvPr/>
        </p:nvSpPr>
        <p:spPr>
          <a:xfrm>
            <a:off x="2963226" y="209550"/>
            <a:ext cx="3217547" cy="369332"/>
          </a:xfrm>
          <a:prstGeom prst="rect">
            <a:avLst/>
          </a:prstGeom>
          <a:noFill/>
        </p:spPr>
        <p:txBody>
          <a:bodyPr wrap="none" rtlCol="0">
            <a:spAutoFit/>
          </a:bodyPr>
          <a:lstStyle/>
          <a:p>
            <a:pPr algn="ctr"/>
            <a:r>
              <a:rPr lang="en-GB" sz="1800" b="1" dirty="0">
                <a:latin typeface="Times New Roman" panose="02020603050405020304" pitchFamily="18" charset="0"/>
                <a:cs typeface="Times New Roman" panose="02020603050405020304" pitchFamily="18" charset="0"/>
              </a:rPr>
              <a:t>N</a:t>
            </a:r>
            <a:r>
              <a:rPr lang="en-IN" sz="1800" b="1" dirty="0">
                <a:latin typeface="Times New Roman" panose="02020603050405020304" pitchFamily="18" charset="0"/>
                <a:cs typeface="Times New Roman" panose="02020603050405020304" pitchFamily="18" charset="0"/>
              </a:rPr>
              <a:t>on- Visual Bivariate Analysis</a:t>
            </a:r>
          </a:p>
        </p:txBody>
      </p:sp>
      <p:pic>
        <p:nvPicPr>
          <p:cNvPr id="5" name="Picture 4">
            <a:extLst>
              <a:ext uri="{FF2B5EF4-FFF2-40B4-BE49-F238E27FC236}">
                <a16:creationId xmlns:a16="http://schemas.microsoft.com/office/drawing/2014/main" id="{A424E65E-02CA-2E88-4999-C2969800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819150"/>
            <a:ext cx="4887007" cy="2143424"/>
          </a:xfrm>
          <a:prstGeom prst="rect">
            <a:avLst/>
          </a:prstGeom>
        </p:spPr>
      </p:pic>
      <p:sp>
        <p:nvSpPr>
          <p:cNvPr id="6" name="TextBox 5">
            <a:extLst>
              <a:ext uri="{FF2B5EF4-FFF2-40B4-BE49-F238E27FC236}">
                <a16:creationId xmlns:a16="http://schemas.microsoft.com/office/drawing/2014/main" id="{43326454-2D9E-DBB8-3211-FAA9AD9EAACD}"/>
              </a:ext>
            </a:extLst>
          </p:cNvPr>
          <p:cNvSpPr txBox="1"/>
          <p:nvPr/>
        </p:nvSpPr>
        <p:spPr>
          <a:xfrm>
            <a:off x="533400" y="3257551"/>
            <a:ext cx="7772400" cy="830997"/>
          </a:xfrm>
          <a:prstGeom prst="rect">
            <a:avLst/>
          </a:prstGeom>
          <a:noFill/>
        </p:spPr>
        <p:txBody>
          <a:bodyPr wrap="square" rtlCol="0">
            <a:spAutoFit/>
          </a:bodyPr>
          <a:lstStyle/>
          <a:p>
            <a:r>
              <a:rPr lang="en-US" sz="1200" b="1" dirty="0"/>
              <a:t>3. Numerical vs Numerical</a:t>
            </a:r>
          </a:p>
          <a:p>
            <a:r>
              <a:rPr lang="en-US" sz="1200" b="1" dirty="0"/>
              <a:t>Product Weight vs Cost of Product</a:t>
            </a:r>
          </a:p>
          <a:p>
            <a:pPr marL="171450" indent="-171450">
              <a:buFont typeface="Arial" panose="020B0604020202020204" pitchFamily="34" charset="0"/>
              <a:buChar char="•"/>
            </a:pPr>
            <a:r>
              <a:rPr lang="en-US" sz="1200" dirty="0"/>
              <a:t>The correlation between </a:t>
            </a:r>
            <a:r>
              <a:rPr lang="en-US" sz="1200" b="1" dirty="0"/>
              <a:t>product weight and product cost is –0.13</a:t>
            </a:r>
            <a:r>
              <a:rPr lang="en-US" sz="1200" dirty="0"/>
              <a:t>, which shows a </a:t>
            </a:r>
            <a:r>
              <a:rPr lang="en-US" sz="1200" b="1" dirty="0"/>
              <a:t>very weak negative relationship</a:t>
            </a:r>
            <a:r>
              <a:rPr lang="en-US" sz="1200" dirty="0"/>
              <a:t>. This means that </a:t>
            </a:r>
            <a:r>
              <a:rPr lang="en-US" sz="1200" b="1" dirty="0"/>
              <a:t>heavier products are not necessarily more expensive</a:t>
            </a:r>
            <a:endParaRPr lang="en-IN" sz="1200" dirty="0"/>
          </a:p>
        </p:txBody>
      </p:sp>
    </p:spTree>
    <p:extLst>
      <p:ext uri="{BB962C8B-B14F-4D97-AF65-F5344CB8AC3E}">
        <p14:creationId xmlns:p14="http://schemas.microsoft.com/office/powerpoint/2010/main" val="4070968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2287D8-1271-6A16-5FF8-CAF686ABAFD6}"/>
              </a:ext>
            </a:extLst>
          </p:cNvPr>
          <p:cNvSpPr txBox="1"/>
          <p:nvPr/>
        </p:nvSpPr>
        <p:spPr>
          <a:xfrm>
            <a:off x="2743200" y="192643"/>
            <a:ext cx="3512500" cy="369332"/>
          </a:xfrm>
          <a:prstGeom prst="rect">
            <a:avLst/>
          </a:prstGeom>
          <a:noFill/>
        </p:spPr>
        <p:txBody>
          <a:bodyPr wrap="none" rtlCol="0">
            <a:spAutoFit/>
          </a:bodyPr>
          <a:lstStyle/>
          <a:p>
            <a:pPr algn="ctr"/>
            <a:r>
              <a:rPr lang="en-GB" sz="1800" b="1" dirty="0">
                <a:latin typeface="Times New Roman" panose="02020603050405020304" pitchFamily="18" charset="0"/>
                <a:cs typeface="Times New Roman" panose="02020603050405020304" pitchFamily="18" charset="0"/>
              </a:rPr>
              <a:t>Visualization – Bivariate Analysis</a:t>
            </a:r>
            <a:endParaRPr lang="en-IN" sz="18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93C06F5-850F-9BFF-C89E-FEEDFD96D3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561975"/>
            <a:ext cx="5382751" cy="4019550"/>
          </a:xfrm>
          <a:prstGeom prst="rect">
            <a:avLst/>
          </a:prstGeom>
        </p:spPr>
      </p:pic>
      <p:sp>
        <p:nvSpPr>
          <p:cNvPr id="5" name="TextBox 4">
            <a:extLst>
              <a:ext uri="{FF2B5EF4-FFF2-40B4-BE49-F238E27FC236}">
                <a16:creationId xmlns:a16="http://schemas.microsoft.com/office/drawing/2014/main" id="{95F2AFCB-E899-5803-E1DC-7B1D7193FA2C}"/>
              </a:ext>
            </a:extLst>
          </p:cNvPr>
          <p:cNvSpPr txBox="1"/>
          <p:nvPr/>
        </p:nvSpPr>
        <p:spPr>
          <a:xfrm>
            <a:off x="5562600" y="1428750"/>
            <a:ext cx="3581400" cy="1569660"/>
          </a:xfrm>
          <a:prstGeom prst="rect">
            <a:avLst/>
          </a:prstGeom>
          <a:noFill/>
        </p:spPr>
        <p:txBody>
          <a:bodyPr wrap="square" rtlCol="0">
            <a:spAutoFit/>
          </a:bodyPr>
          <a:lstStyle/>
          <a:p>
            <a:r>
              <a:rPr lang="en-US" sz="1200" b="1" dirty="0"/>
              <a:t>1. Categorical vs Categorical</a:t>
            </a:r>
          </a:p>
          <a:p>
            <a:r>
              <a:rPr lang="en-US" sz="1200" b="1" dirty="0"/>
              <a:t>Mode of Shipment vs Delivery Status</a:t>
            </a:r>
            <a:br>
              <a:rPr lang="en-US" sz="1200" dirty="0"/>
            </a:br>
            <a:r>
              <a:rPr lang="en-US" sz="1200" dirty="0"/>
              <a:t>The bar chart shows that </a:t>
            </a:r>
            <a:r>
              <a:rPr lang="en-US" sz="1200" b="1" dirty="0"/>
              <a:t>Flight shipments have the highest proportion of on-time deliveries</a:t>
            </a:r>
            <a:r>
              <a:rPr lang="en-US" sz="1200" dirty="0"/>
              <a:t>, while </a:t>
            </a:r>
            <a:r>
              <a:rPr lang="en-US" sz="1200" b="1" dirty="0"/>
              <a:t>Road shipments experience the most delays</a:t>
            </a:r>
            <a:r>
              <a:rPr lang="en-US" sz="1200" dirty="0"/>
              <a:t>. This confirms that faster transportation modes lead to better delivery performance.</a:t>
            </a:r>
          </a:p>
          <a:p>
            <a:endParaRPr lang="en-IN" sz="1200" dirty="0"/>
          </a:p>
        </p:txBody>
      </p:sp>
    </p:spTree>
    <p:extLst>
      <p:ext uri="{BB962C8B-B14F-4D97-AF65-F5344CB8AC3E}">
        <p14:creationId xmlns:p14="http://schemas.microsoft.com/office/powerpoint/2010/main" val="966763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C1946E-0F6A-C66A-96BC-EE29013E73F4}"/>
              </a:ext>
            </a:extLst>
          </p:cNvPr>
          <p:cNvSpPr txBox="1"/>
          <p:nvPr/>
        </p:nvSpPr>
        <p:spPr>
          <a:xfrm>
            <a:off x="2743200" y="69029"/>
            <a:ext cx="3512500" cy="369332"/>
          </a:xfrm>
          <a:prstGeom prst="rect">
            <a:avLst/>
          </a:prstGeom>
          <a:noFill/>
        </p:spPr>
        <p:txBody>
          <a:bodyPr wrap="none" rtlCol="0">
            <a:spAutoFit/>
          </a:bodyPr>
          <a:lstStyle/>
          <a:p>
            <a:pPr algn="ctr"/>
            <a:r>
              <a:rPr lang="en-GB" sz="1800" b="1" dirty="0">
                <a:latin typeface="Times New Roman" panose="02020603050405020304" pitchFamily="18" charset="0"/>
                <a:cs typeface="Times New Roman" panose="02020603050405020304" pitchFamily="18" charset="0"/>
              </a:rPr>
              <a:t>Visualization – Bivariate Analysis</a:t>
            </a:r>
            <a:endParaRPr lang="en-IN" sz="18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212A0B7-CDA1-5844-9F23-38309B89AD3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60905" y="577212"/>
            <a:ext cx="4012189" cy="4417410"/>
          </a:xfrm>
          <a:prstGeom prst="rect">
            <a:avLst/>
          </a:prstGeom>
        </p:spPr>
      </p:pic>
      <p:sp>
        <p:nvSpPr>
          <p:cNvPr id="5" name="TextBox 4">
            <a:extLst>
              <a:ext uri="{FF2B5EF4-FFF2-40B4-BE49-F238E27FC236}">
                <a16:creationId xmlns:a16="http://schemas.microsoft.com/office/drawing/2014/main" id="{A7ED54E2-31F0-527A-95FF-E7462E6C0DAD}"/>
              </a:ext>
            </a:extLst>
          </p:cNvPr>
          <p:cNvSpPr txBox="1"/>
          <p:nvPr/>
        </p:nvSpPr>
        <p:spPr>
          <a:xfrm>
            <a:off x="5206494" y="1428750"/>
            <a:ext cx="3480305" cy="2308324"/>
          </a:xfrm>
          <a:prstGeom prst="rect">
            <a:avLst/>
          </a:prstGeom>
          <a:noFill/>
        </p:spPr>
        <p:txBody>
          <a:bodyPr wrap="square" rtlCol="0">
            <a:spAutoFit/>
          </a:bodyPr>
          <a:lstStyle/>
          <a:p>
            <a:r>
              <a:rPr lang="en-US" sz="1200" b="1" dirty="0"/>
              <a:t>2. Categorical vs Numerical</a:t>
            </a:r>
          </a:p>
          <a:p>
            <a:r>
              <a:rPr lang="en-US" sz="1200" b="1" dirty="0"/>
              <a:t>Delivery Status vs Customer Rating </a:t>
            </a:r>
            <a:br>
              <a:rPr lang="en-US" sz="1200" dirty="0"/>
            </a:br>
            <a:r>
              <a:rPr lang="en-US" sz="1200" dirty="0"/>
              <a:t>This boxplot shows that </a:t>
            </a:r>
            <a:r>
              <a:rPr lang="en-US" sz="1200" b="1" dirty="0"/>
              <a:t>customer ratings are almost the same for both on-time and delayed deliveries</a:t>
            </a:r>
            <a:r>
              <a:rPr lang="en-US" sz="1200" dirty="0"/>
              <a:t>.</a:t>
            </a:r>
          </a:p>
          <a:p>
            <a:r>
              <a:rPr lang="en-US" sz="1200" dirty="0"/>
              <a:t>Both groups have a </a:t>
            </a:r>
            <a:r>
              <a:rPr lang="en-US" sz="1200" b="1" dirty="0"/>
              <a:t>median rating around 3</a:t>
            </a:r>
            <a:r>
              <a:rPr lang="en-US" sz="1200" dirty="0"/>
              <a:t>, and their rating ranges are also very similar, which means </a:t>
            </a:r>
            <a:r>
              <a:rPr lang="en-US" sz="1200" b="1" dirty="0"/>
              <a:t>customers are giving nearly the same feedback whether the order was delayed or not</a:t>
            </a:r>
            <a:r>
              <a:rPr lang="en-US" sz="1200" dirty="0"/>
              <a:t>. There is no strong drop in ratings for delayed orders.</a:t>
            </a:r>
          </a:p>
          <a:p>
            <a:endParaRPr lang="en-IN" sz="1200" dirty="0"/>
          </a:p>
        </p:txBody>
      </p:sp>
    </p:spTree>
    <p:extLst>
      <p:ext uri="{BB962C8B-B14F-4D97-AF65-F5344CB8AC3E}">
        <p14:creationId xmlns:p14="http://schemas.microsoft.com/office/powerpoint/2010/main" val="2443477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6C9746-E7C4-7BF4-4DE0-1A31072AC6C0}"/>
              </a:ext>
            </a:extLst>
          </p:cNvPr>
          <p:cNvSpPr txBox="1"/>
          <p:nvPr/>
        </p:nvSpPr>
        <p:spPr>
          <a:xfrm>
            <a:off x="2815750" y="133350"/>
            <a:ext cx="3512500" cy="369332"/>
          </a:xfrm>
          <a:prstGeom prst="rect">
            <a:avLst/>
          </a:prstGeom>
          <a:noFill/>
        </p:spPr>
        <p:txBody>
          <a:bodyPr wrap="none" rtlCol="0">
            <a:spAutoFit/>
          </a:bodyPr>
          <a:lstStyle/>
          <a:p>
            <a:pPr algn="ctr"/>
            <a:r>
              <a:rPr lang="en-GB" sz="1800" b="1" dirty="0">
                <a:latin typeface="Times New Roman" panose="02020603050405020304" pitchFamily="18" charset="0"/>
                <a:cs typeface="Times New Roman" panose="02020603050405020304" pitchFamily="18" charset="0"/>
              </a:rPr>
              <a:t>Visualization – Bivariate Analysis</a:t>
            </a:r>
            <a:endParaRPr lang="en-IN" sz="18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9E40802-1965-1184-E559-947F1C9331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011" y="536756"/>
            <a:ext cx="3935989" cy="4479744"/>
          </a:xfrm>
          <a:prstGeom prst="rect">
            <a:avLst/>
          </a:prstGeom>
        </p:spPr>
      </p:pic>
      <p:sp>
        <p:nvSpPr>
          <p:cNvPr id="5" name="TextBox 4">
            <a:extLst>
              <a:ext uri="{FF2B5EF4-FFF2-40B4-BE49-F238E27FC236}">
                <a16:creationId xmlns:a16="http://schemas.microsoft.com/office/drawing/2014/main" id="{E9DEFEB5-1961-CCEA-DCB4-136F48F42785}"/>
              </a:ext>
            </a:extLst>
          </p:cNvPr>
          <p:cNvSpPr txBox="1"/>
          <p:nvPr/>
        </p:nvSpPr>
        <p:spPr>
          <a:xfrm>
            <a:off x="5029200" y="1504950"/>
            <a:ext cx="3478789" cy="1569660"/>
          </a:xfrm>
          <a:prstGeom prst="rect">
            <a:avLst/>
          </a:prstGeom>
          <a:noFill/>
        </p:spPr>
        <p:txBody>
          <a:bodyPr wrap="square" rtlCol="0">
            <a:spAutoFit/>
          </a:bodyPr>
          <a:lstStyle/>
          <a:p>
            <a:r>
              <a:rPr lang="en-US" sz="1200" b="1" dirty="0"/>
              <a:t>3. Numerical vs Numerical</a:t>
            </a:r>
          </a:p>
          <a:p>
            <a:r>
              <a:rPr lang="en-US" sz="1200" b="1" dirty="0"/>
              <a:t>Product Weight vs Cost of Product </a:t>
            </a:r>
            <a:br>
              <a:rPr lang="en-US" sz="1200" dirty="0"/>
            </a:br>
            <a:r>
              <a:rPr lang="en-US" sz="1200" dirty="0"/>
              <a:t>There is a </a:t>
            </a:r>
            <a:r>
              <a:rPr lang="en-US" sz="1200" b="1" dirty="0"/>
              <a:t>positive relationship between weight and product cost</a:t>
            </a:r>
            <a:r>
              <a:rPr lang="en-US" sz="1200" dirty="0"/>
              <a:t>, meaning heavier products are generally more expensive. This implies that delays in heavier shipments could also have a higher financial impact.</a:t>
            </a:r>
          </a:p>
          <a:p>
            <a:endParaRPr lang="en-IN" sz="1200" dirty="0"/>
          </a:p>
        </p:txBody>
      </p:sp>
    </p:spTree>
    <p:extLst>
      <p:ext uri="{BB962C8B-B14F-4D97-AF65-F5344CB8AC3E}">
        <p14:creationId xmlns:p14="http://schemas.microsoft.com/office/powerpoint/2010/main" val="32030671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F9AB4A-91C8-8E55-9CE3-11AA62CB3F8A}"/>
              </a:ext>
            </a:extLst>
          </p:cNvPr>
          <p:cNvSpPr txBox="1"/>
          <p:nvPr/>
        </p:nvSpPr>
        <p:spPr>
          <a:xfrm>
            <a:off x="3352800" y="133350"/>
            <a:ext cx="2480166" cy="369332"/>
          </a:xfrm>
          <a:prstGeom prst="rect">
            <a:avLst/>
          </a:prstGeom>
          <a:noFill/>
        </p:spPr>
        <p:txBody>
          <a:bodyPr wrap="none" rtlCol="0">
            <a:spAutoFit/>
          </a:bodyPr>
          <a:lstStyle/>
          <a:p>
            <a:pPr algn="ctr"/>
            <a:r>
              <a:rPr lang="en-IN" b="1" dirty="0"/>
              <a:t>Multivariate Analysis</a:t>
            </a:r>
          </a:p>
        </p:txBody>
      </p:sp>
      <p:pic>
        <p:nvPicPr>
          <p:cNvPr id="5" name="Picture 4">
            <a:extLst>
              <a:ext uri="{FF2B5EF4-FFF2-40B4-BE49-F238E27FC236}">
                <a16:creationId xmlns:a16="http://schemas.microsoft.com/office/drawing/2014/main" id="{49EB8AA1-5FD2-6A73-A406-8D437F5F08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590550"/>
            <a:ext cx="2819400" cy="2801327"/>
          </a:xfrm>
          <a:prstGeom prst="rect">
            <a:avLst/>
          </a:prstGeom>
        </p:spPr>
      </p:pic>
      <p:pic>
        <p:nvPicPr>
          <p:cNvPr id="7" name="Picture 6">
            <a:extLst>
              <a:ext uri="{FF2B5EF4-FFF2-40B4-BE49-F238E27FC236}">
                <a16:creationId xmlns:a16="http://schemas.microsoft.com/office/drawing/2014/main" id="{E3EF0B4F-A99D-513A-BE41-19722989FD62}"/>
              </a:ext>
            </a:extLst>
          </p:cNvPr>
          <p:cNvPicPr>
            <a:picLocks noChangeAspect="1"/>
          </p:cNvPicPr>
          <p:nvPr/>
        </p:nvPicPr>
        <p:blipFill>
          <a:blip r:embed="rId3"/>
          <a:stretch>
            <a:fillRect/>
          </a:stretch>
        </p:blipFill>
        <p:spPr>
          <a:xfrm>
            <a:off x="5105400" y="502682"/>
            <a:ext cx="3197496" cy="3273948"/>
          </a:xfrm>
          <a:prstGeom prst="rect">
            <a:avLst/>
          </a:prstGeom>
        </p:spPr>
      </p:pic>
      <p:sp>
        <p:nvSpPr>
          <p:cNvPr id="8" name="TextBox 7">
            <a:extLst>
              <a:ext uri="{FF2B5EF4-FFF2-40B4-BE49-F238E27FC236}">
                <a16:creationId xmlns:a16="http://schemas.microsoft.com/office/drawing/2014/main" id="{D012064E-69A3-B5BC-33F9-C683978E467B}"/>
              </a:ext>
            </a:extLst>
          </p:cNvPr>
          <p:cNvSpPr txBox="1"/>
          <p:nvPr/>
        </p:nvSpPr>
        <p:spPr>
          <a:xfrm>
            <a:off x="523965" y="3830208"/>
            <a:ext cx="7772400" cy="1015663"/>
          </a:xfrm>
          <a:prstGeom prst="rect">
            <a:avLst/>
          </a:prstGeom>
          <a:noFill/>
        </p:spPr>
        <p:txBody>
          <a:bodyPr wrap="square" rtlCol="0">
            <a:spAutoFit/>
          </a:bodyPr>
          <a:lstStyle/>
          <a:p>
            <a:r>
              <a:rPr lang="en-US" sz="1200" dirty="0"/>
              <a:t>The heatmap indicates that </a:t>
            </a:r>
            <a:r>
              <a:rPr lang="en-US" sz="1200" b="1" dirty="0"/>
              <a:t>delivery delays increase when product weight is higher and when customers contact support more often</a:t>
            </a:r>
            <a:r>
              <a:rPr lang="en-US" sz="1200" dirty="0"/>
              <a:t>, showing that operational complexity leads to slower deliveries. It also suggests that </a:t>
            </a:r>
            <a:r>
              <a:rPr lang="en-US" sz="1200" b="1" dirty="0"/>
              <a:t>discounts are frequently used when delays occur</a:t>
            </a:r>
            <a:r>
              <a:rPr lang="en-US" sz="1200" dirty="0"/>
              <a:t>, likely as a way to reduce customer dissatisfaction. In addition, </a:t>
            </a:r>
            <a:r>
              <a:rPr lang="en-US" sz="1200" b="1" dirty="0"/>
              <a:t>late deliveries tend to result in slightly lower customer ratings</a:t>
            </a:r>
            <a:r>
              <a:rPr lang="en-US" sz="1200" dirty="0"/>
              <a:t>, highlighting the impact of logistics performance on customer experience.</a:t>
            </a:r>
            <a:endParaRPr lang="en-IN" sz="1200" dirty="0"/>
          </a:p>
        </p:txBody>
      </p:sp>
    </p:spTree>
    <p:extLst>
      <p:ext uri="{BB962C8B-B14F-4D97-AF65-F5344CB8AC3E}">
        <p14:creationId xmlns:p14="http://schemas.microsoft.com/office/powerpoint/2010/main" val="40096109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1" y="133350"/>
            <a:ext cx="8382000" cy="746260"/>
          </a:xfrm>
          <a:prstGeom prst="rect">
            <a:avLst/>
          </a:prstGeom>
        </p:spPr>
        <p:txBody>
          <a:bodyPr vert="horz" wrap="square" lIns="0" tIns="230640" rIns="0" bIns="0" rtlCol="0">
            <a:spAutoFit/>
          </a:bodyPr>
          <a:lstStyle/>
          <a:p>
            <a:pPr marL="12700">
              <a:lnSpc>
                <a:spcPct val="100000"/>
              </a:lnSpc>
              <a:spcBef>
                <a:spcPts val="100"/>
              </a:spcBef>
            </a:pPr>
            <a:r>
              <a:rPr spc="-10" dirty="0"/>
              <a:t>Summary</a:t>
            </a:r>
          </a:p>
        </p:txBody>
      </p:sp>
      <p:sp>
        <p:nvSpPr>
          <p:cNvPr id="4" name="TextBox 3">
            <a:extLst>
              <a:ext uri="{FF2B5EF4-FFF2-40B4-BE49-F238E27FC236}">
                <a16:creationId xmlns:a16="http://schemas.microsoft.com/office/drawing/2014/main" id="{29E38A7A-14ED-562D-23D0-086DA601C93E}"/>
              </a:ext>
            </a:extLst>
          </p:cNvPr>
          <p:cNvSpPr txBox="1"/>
          <p:nvPr/>
        </p:nvSpPr>
        <p:spPr>
          <a:xfrm>
            <a:off x="381000" y="1123950"/>
            <a:ext cx="7772400" cy="2062103"/>
          </a:xfrm>
          <a:prstGeom prst="rect">
            <a:avLst/>
          </a:prstGeom>
          <a:noFill/>
        </p:spPr>
        <p:txBody>
          <a:bodyPr wrap="square" rtlCol="0">
            <a:spAutoFit/>
          </a:bodyPr>
          <a:lstStyle/>
          <a:p>
            <a:r>
              <a:rPr lang="en-US" sz="1600" dirty="0"/>
              <a:t>The analysis shows that delivery performance in e-commerce is mainly influenced by shipment mode, product weight, and operational complexity. Heavier products and orders that require more customer support are more likely to be delayed, while faster shipment methods lead to better on-time delivery rates. When delays happen, the company often uses discounts to reduce customer dissatisfaction, but late deliveries still tend to lower customer ratings. Overall, the dataset is clean and well-structured, and the insights clearly highlight how logistics efficiency plays a key role in customer experience and business performance.</a:t>
            </a:r>
            <a:endParaRPr lang="en-IN"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849887" y="1388061"/>
            <a:ext cx="3349232" cy="2125736"/>
          </a:xfrm>
          <a:prstGeom prst="rect">
            <a:avLst/>
          </a:prstGeom>
        </p:spPr>
      </p:pic>
      <p:sp>
        <p:nvSpPr>
          <p:cNvPr id="3" name="object 3"/>
          <p:cNvSpPr txBox="1">
            <a:spLocks noGrp="1"/>
          </p:cNvSpPr>
          <p:nvPr>
            <p:ph type="title"/>
          </p:nvPr>
        </p:nvSpPr>
        <p:spPr>
          <a:xfrm>
            <a:off x="673100" y="1913636"/>
            <a:ext cx="2002155" cy="528320"/>
          </a:xfrm>
          <a:prstGeom prst="rect">
            <a:avLst/>
          </a:prstGeom>
        </p:spPr>
        <p:txBody>
          <a:bodyPr vert="horz" wrap="square" lIns="0" tIns="12700" rIns="0" bIns="0" rtlCol="0">
            <a:spAutoFit/>
          </a:bodyPr>
          <a:lstStyle/>
          <a:p>
            <a:pPr marL="12700">
              <a:lnSpc>
                <a:spcPct val="100000"/>
              </a:lnSpc>
              <a:spcBef>
                <a:spcPts val="100"/>
              </a:spcBef>
            </a:pPr>
            <a:r>
              <a:rPr spc="-10" dirty="0">
                <a:solidFill>
                  <a:srgbClr val="00B050"/>
                </a:solidFill>
                <a:latin typeface="Times New Roman"/>
                <a:cs typeface="Times New Roman"/>
              </a:rPr>
              <a:t>Thank</a:t>
            </a:r>
            <a:r>
              <a:rPr spc="-190" dirty="0">
                <a:solidFill>
                  <a:srgbClr val="00B050"/>
                </a:solidFill>
                <a:latin typeface="Times New Roman"/>
                <a:cs typeface="Times New Roman"/>
              </a:rPr>
              <a:t> </a:t>
            </a:r>
            <a:r>
              <a:rPr spc="-75" dirty="0">
                <a:solidFill>
                  <a:srgbClr val="00B050"/>
                </a:solidFill>
                <a:latin typeface="Times New Roman"/>
                <a:cs typeface="Times New Roman"/>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681</TotalTime>
  <Words>1093</Words>
  <Application>Microsoft Office PowerPoint</Application>
  <PresentationFormat>On-screen Show (16:9)</PresentationFormat>
  <Paragraphs>89</Paragraphs>
  <Slides>18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Arial MT</vt:lpstr>
      <vt:lpstr>Calibri</vt:lpstr>
      <vt:lpstr>Times New Roman</vt:lpstr>
      <vt:lpstr>Office Theme</vt:lpstr>
      <vt:lpstr>E-Commerce Shipping Performance and Delivery Delays</vt:lpstr>
      <vt:lpstr>Dataset Overview</vt:lpstr>
      <vt:lpstr>Simple description of each column in your dataset:</vt:lpstr>
      <vt:lpstr>Reading Dataset</vt:lpstr>
      <vt:lpstr>Basic Checks</vt:lpstr>
      <vt:lpstr>Preprocessing Techniques on Dataset Individual Columns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EDA PPT</dc:title>
  <cp:lastModifiedBy>NagaVenkat Turayi</cp:lastModifiedBy>
  <cp:revision>8</cp:revision>
  <dcterms:created xsi:type="dcterms:W3CDTF">2026-01-09T07:32:18Z</dcterms:created>
  <dcterms:modified xsi:type="dcterms:W3CDTF">2026-01-13T13:06:04Z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2026-01-09T00:00:00Z</vt:filetime>
  </property>
  <property fmtid="{D5CDD505-2E9C-101B-9397-08002B2CF9AE}" pid="3" name="Creator">
    <vt:lpwstr>Google</vt:lpwstr>
  </property>
  <property fmtid="{D5CDD505-2E9C-101B-9397-08002B2CF9AE}" pid="4" name="LastSaved">
    <vt:filetime>2026-01-09T00:00:00Z</vt:filetime>
  </property>
</Properties>
</file>